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939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D0171F"/>
          </a:solidFill>
          <a:ln/>
        </p:spPr>
      </p:sp>
      <p:pic>
        <p:nvPicPr>
          <p:cNvPr id="3" name="Image 0" descr="/tmp/claude-0/-home-user-Codling-Todo/adc1606a-e2f8-54c8-9035-b3a48e0e63b2/scratchpad/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22960"/>
            <a:ext cx="3108960" cy="6844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2860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CAPITAL DELIVERY PROCESS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822960" y="3657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 ·  Estimating  ·  Procurement  ·  Project Management  |  CVR &amp; HWC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22960" y="4617720"/>
            <a:ext cx="4023360" cy="502920"/>
          </a:xfrm>
          <a:prstGeom prst="rect">
            <a:avLst/>
          </a:prstGeom>
          <a:solidFill>
            <a:srgbClr val="D017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CEO / COO APPROVAL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 the SVP of Engineering  ·  Document CVR-PROC-001 Rev 0  ·  July 2026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680960" y="822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200" kern="0" dirty="0">
                <a:solidFill>
                  <a:srgbClr val="E31B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UTILITY  ·  100% OF THE TIME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solidFill>
            <a:srgbClr val="D017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88720" y="38404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CHANGE, WHY NOW</a:t>
            </a:r>
            <a:endParaRPr lang="en-US" sz="3000" dirty="0"/>
          </a:p>
        </p:txBody>
      </p:sp>
      <p:pic>
        <p:nvPicPr>
          <p:cNvPr id="4" name="Image 0" descr="/tmp/claude-0/-home-user-Codling-Todo/adc1606a-e2f8-54c8-9035-b3a48e0e63b2/scratchpa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457200"/>
            <a:ext cx="1170432" cy="2576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2344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Today, engineering, estimating, procurement, and project management sit in different organizations, connected by email and network drives. The cost of those seams: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210312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2F2F2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22128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0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Estimates built blind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257860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Estimates assembled without design quantities or field production input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72200" y="210312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2F2F2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0" y="22128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0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Unverified purchasing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00800" y="257860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placed without engineering verification of part numbers and quantities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57200" y="352044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2F2F2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36301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0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 surprises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85800" y="399592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erosion discovered after the money is spent, not while it can be managed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172200" y="352044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2F2F2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0" y="36301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0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Schedules that don’t drive buying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00800" y="399592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ordering disconnected from construction need dates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457200" y="516636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393939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525780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stakes are rising:  </a:t>
            </a:r>
            <a:pPr indent="0" marL="0">
              <a:buNone/>
            </a:pPr>
            <a:r>
              <a:rPr lang="en-US" sz="15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IOU clients (DTE and others) are moving to open-book arrangements — they are effectively auditing our project controls. Predictable delivery is becoming a condition of winning the work.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CVR-PROC-001 Rev 0  ·  July 23, 2026  ·  Utility Supply &amp; Construction Company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solidFill>
            <a:srgbClr val="D017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88720" y="38404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REQUESTED</a:t>
            </a:r>
            <a:endParaRPr lang="en-US" sz="3000" dirty="0"/>
          </a:p>
        </p:txBody>
      </p:sp>
      <p:pic>
        <p:nvPicPr>
          <p:cNvPr id="4" name="Image 0" descr="/tmp/claude-0/-home-user-Codling-Todo/adc1606a-e2f8-54c8-9035-b3a48e0e63b2/scratchpa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457200"/>
            <a:ext cx="1170432" cy="2576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298448"/>
            <a:ext cx="566928" cy="822960"/>
          </a:xfrm>
          <a:prstGeom prst="rect">
            <a:avLst/>
          </a:prstGeom>
          <a:solidFill>
            <a:srgbClr val="D017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234440" y="129844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 the integrated process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for all projects ≥ $500k; exceptions approved by SVP Engineering or COO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57200" y="2267712"/>
            <a:ext cx="566928" cy="822960"/>
          </a:xfrm>
          <a:prstGeom prst="rect">
            <a:avLst/>
          </a:prstGeom>
          <a:solidFill>
            <a:srgbClr val="D017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234440" y="2267712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estimating into CVR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 the estimating team from HWC to CVR, reporting to the SVP of Engineering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57200" y="3236976"/>
            <a:ext cx="566928" cy="822960"/>
          </a:xfrm>
          <a:prstGeom prst="rect">
            <a:avLst/>
          </a:prstGeom>
          <a:solidFill>
            <a:srgbClr val="D017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234440" y="3236976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up the dedicated CVR PM team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PMP/PE-credentialed PMs, separate from engineering leads, operating in the Capital Delivery model with P6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57200" y="4206240"/>
            <a:ext cx="566928" cy="822960"/>
          </a:xfrm>
          <a:prstGeom prst="rect">
            <a:avLst/>
          </a:prstGeom>
          <a:solidFill>
            <a:srgbClr val="D017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234440" y="42062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Endorse the CVR → PLS transmittal system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Engineer-verified transmittals as the single channel for material procurement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57200" y="5175504"/>
            <a:ext cx="566928" cy="822960"/>
          </a:xfrm>
          <a:prstGeom prst="rect">
            <a:avLst/>
          </a:prstGeom>
          <a:solidFill>
            <a:srgbClr val="D017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1234440" y="5175504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on New Baltimore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the process on the 39-work-order program before the spring 2027 construction start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CVR-PROC-001 Rev 0  ·  July 23, 2026  ·  Utility Supply &amp; Construction Company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solidFill>
            <a:srgbClr val="D017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88720" y="38404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"CAPITAL DELIVERY" MEANS</a:t>
            </a:r>
            <a:endParaRPr lang="en-US" sz="3000" dirty="0"/>
          </a:p>
        </p:txBody>
      </p:sp>
      <p:pic>
        <p:nvPicPr>
          <p:cNvPr id="4" name="Image 0" descr="/tmp/claude-0/-home-user-Codling-Todo/adc1606a-e2f8-54c8-9035-b3a48e0e63b2/scratchpa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457200"/>
            <a:ext cx="1170432" cy="25765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280160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F2F2F2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37160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0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project managed as a financial investment, not just a construction job </a:t>
            </a:r>
            <a:pPr indent="0" marL="0">
              <a:buNone/>
            </a:pPr>
            <a:r>
              <a:rPr lang="en-US" sz="17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discipline investor-owned utilities apply to their own capital programs, where cost and schedule performance flows directly into their rate cases.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57200" y="3063240"/>
            <a:ext cx="2670048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85800" y="3310128"/>
            <a:ext cx="457200" cy="457200"/>
          </a:xfrm>
          <a:prstGeom prst="ellipse">
            <a:avLst/>
          </a:prstGeom>
          <a:solidFill>
            <a:srgbClr val="D0171F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85800" y="39319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Baselined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685800" y="45262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project carries a baselined budget and P6 schedule from day one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355848" y="3063240"/>
            <a:ext cx="2670048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84448" y="3310128"/>
            <a:ext cx="457200" cy="457200"/>
          </a:xfrm>
          <a:prstGeom prst="ellipse">
            <a:avLst/>
          </a:prstGeom>
          <a:solidFill>
            <a:srgbClr val="D0171F"/>
          </a:solidFill>
          <a:ln/>
        </p:spPr>
      </p:sp>
      <p:sp>
        <p:nvSpPr>
          <p:cNvPr id="14" name="Text 11"/>
          <p:cNvSpPr/>
          <p:nvPr/>
        </p:nvSpPr>
        <p:spPr>
          <a:xfrm>
            <a:off x="3584448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584448" y="39319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Committed-cost visibility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3584448" y="45262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dollars the moment a PO obligates them — not when invoices arrive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254496" y="3063240"/>
            <a:ext cx="2670048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83096" y="3310128"/>
            <a:ext cx="457200" cy="457200"/>
          </a:xfrm>
          <a:prstGeom prst="ellipse">
            <a:avLst/>
          </a:prstGeom>
          <a:solidFill>
            <a:srgbClr val="D0171F"/>
          </a:solidFill>
          <a:ln/>
        </p:spPr>
      </p:sp>
      <p:sp>
        <p:nvSpPr>
          <p:cNvPr id="19" name="Text 16"/>
          <p:cNvSpPr/>
          <p:nvPr/>
        </p:nvSpPr>
        <p:spPr>
          <a:xfrm>
            <a:off x="6483096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483096" y="39319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monthly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6483096" y="45262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Forecast-at-completion and GP projection as a standing report, not a fire drill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9153144" y="3063240"/>
            <a:ext cx="2670048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9381744" y="3310128"/>
            <a:ext cx="457200" cy="457200"/>
          </a:xfrm>
          <a:prstGeom prst="ellipse">
            <a:avLst/>
          </a:prstGeom>
          <a:solidFill>
            <a:srgbClr val="D0171F"/>
          </a:solidFill>
          <a:ln/>
        </p:spPr>
      </p:sp>
      <p:sp>
        <p:nvSpPr>
          <p:cNvPr id="24" name="Text 21"/>
          <p:cNvSpPr/>
          <p:nvPr/>
        </p:nvSpPr>
        <p:spPr>
          <a:xfrm>
            <a:off x="9381744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9381744" y="39319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Gated decisions</a:t>
            </a:r>
            <a:endParaRPr lang="en-US" sz="1550" dirty="0"/>
          </a:p>
        </p:txBody>
      </p:sp>
      <p:sp>
        <p:nvSpPr>
          <p:cNvPr id="26" name="Text 23"/>
          <p:cNvSpPr/>
          <p:nvPr/>
        </p:nvSpPr>
        <p:spPr>
          <a:xfrm>
            <a:off x="9381744" y="45262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decides at defined gates — and stays out of the day-to-day critical path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93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GP the way an IOU’s capital program office manages rate-base spend.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CVR-PROC-001 Rev 0  ·  July 23, 2026  ·  Utility Supply &amp; Construction Company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solidFill>
            <a:srgbClr val="D017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88720" y="38404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OPERATING MODEL</a:t>
            </a:r>
            <a:endParaRPr lang="en-US" sz="3000" dirty="0"/>
          </a:p>
        </p:txBody>
      </p:sp>
      <p:pic>
        <p:nvPicPr>
          <p:cNvPr id="4" name="Image 0" descr="/tmp/claude-0/-home-user-Codling-Todo/adc1606a-e2f8-54c8-9035-b3a48e0e63b2/scratchpa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457200"/>
            <a:ext cx="1170432" cy="25765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280160"/>
            <a:ext cx="3630168" cy="3291840"/>
          </a:xfrm>
          <a:prstGeom prst="roundRect">
            <a:avLst>
              <a:gd name="adj" fmla="val 2222"/>
            </a:avLst>
          </a:prstGeom>
          <a:solidFill>
            <a:srgbClr val="F2F2F2"/>
          </a:solidFill>
          <a:ln/>
        </p:spPr>
      </p:sp>
      <p:sp>
        <p:nvSpPr>
          <p:cNvPr id="6" name="Text 3"/>
          <p:cNvSpPr/>
          <p:nvPr/>
        </p:nvSpPr>
        <p:spPr>
          <a:xfrm>
            <a:off x="713232" y="14813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D0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ACCURATE ESTIMATES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13232" y="1920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CVR Estimating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13232" y="2359152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Estimating moves into CVR under the SVP of Engineering. Estimates built from real design quantities, validated by HWC Construction/Operations PMs who know field conditions and production rates.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1280160"/>
            <a:ext cx="3630168" cy="3291840"/>
          </a:xfrm>
          <a:prstGeom prst="roundRect">
            <a:avLst>
              <a:gd name="adj" fmla="val 2222"/>
            </a:avLst>
          </a:prstGeom>
          <a:solidFill>
            <a:srgbClr val="393939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0" y="14813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E31B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PROCUREMENT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572000" y="1920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Engineer (EOR)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0" y="2359152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Engineer of Record leads procurement through Power Line Supply — part numbers, quantities, and technical requirements verified by engineering before anything is ordered.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174736" y="1280160"/>
            <a:ext cx="3630168" cy="3291840"/>
          </a:xfrm>
          <a:prstGeom prst="roundRect">
            <a:avLst>
              <a:gd name="adj" fmla="val 2222"/>
            </a:avLst>
          </a:prstGeom>
          <a:solidFill>
            <a:srgbClr val="F2F2F2"/>
          </a:solidFill>
          <a:ln/>
        </p:spPr>
      </p:sp>
      <p:sp>
        <p:nvSpPr>
          <p:cNvPr id="14" name="Text 11"/>
          <p:cNvSpPr/>
          <p:nvPr/>
        </p:nvSpPr>
        <p:spPr>
          <a:xfrm>
            <a:off x="8430768" y="14813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D0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DELIVERY PM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430768" y="1920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CVR PM (PMP/PE)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430768" y="2359152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credentialed PM, separate from the engineering lead — financial performance, on-time purchasing, and P6 resource-loaded schedules.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57200" y="4892040"/>
            <a:ext cx="11247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25400">
            <a:solidFill>
              <a:srgbClr val="D0171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" y="4983480"/>
            <a:ext cx="10698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0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critical relationship:  </a:t>
            </a:r>
            <a:pPr indent="0" marL="0">
              <a:buNone/>
            </a:pPr>
            <a:r>
              <a:rPr lang="en-US" sz="145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CVR PM (capital delivery: cost, schedule, procurement, reporting) and the HWC Construction PM (field execution: crews, production, constructability) meet weekly, share one schedule and one cost picture, and jointly own the outcome.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CVR-PROC-001 Rev 0  ·  July 23, 2026  ·  Utility Supply &amp; Construction Company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solidFill>
            <a:srgbClr val="D017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88720" y="38404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&amp; ORGANIZATION</a:t>
            </a:r>
            <a:endParaRPr lang="en-US" sz="3000" dirty="0"/>
          </a:p>
        </p:txBody>
      </p:sp>
      <p:pic>
        <p:nvPicPr>
          <p:cNvPr id="4" name="Image 0" descr="/tmp/claude-0/-home-user-Codling-Todo/adc1606a-e2f8-54c8-9035-b3a48e0e63b2/scratchpa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457200"/>
            <a:ext cx="1170432" cy="25765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371600"/>
            <a:ext cx="5212080" cy="4754880"/>
          </a:xfrm>
          <a:prstGeom prst="roundRect">
            <a:avLst>
              <a:gd name="adj" fmla="val 1538"/>
            </a:avLst>
          </a:prstGeom>
          <a:solidFill>
            <a:srgbClr val="393939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73736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31B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$500k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731520" y="2926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above — the process is mandatory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3611880"/>
            <a:ext cx="4663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Exceptions approved only by the SVP Engineering or the COO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decision documented at project award / kickoff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threshold: lightweight path; teams may opt in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Exceptions reviewed quarterly by SVP / COO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89320" y="1371600"/>
            <a:ext cx="5742432" cy="146304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/>
        </p:spPr>
      </p:sp>
      <p:sp>
        <p:nvSpPr>
          <p:cNvPr id="10" name="Text 7"/>
          <p:cNvSpPr/>
          <p:nvPr/>
        </p:nvSpPr>
        <p:spPr>
          <a:xfrm>
            <a:off x="6263640" y="1499616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0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Estimating → CVR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263640" y="192024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transitions from HWC to CVR, reporting to the SVP of Engineering — estimates and engineering under one roof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989320" y="3017520"/>
            <a:ext cx="5742432" cy="146304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/>
        </p:spPr>
      </p:sp>
      <p:sp>
        <p:nvSpPr>
          <p:cNvPr id="13" name="Text 10"/>
          <p:cNvSpPr/>
          <p:nvPr/>
        </p:nvSpPr>
        <p:spPr>
          <a:xfrm>
            <a:off x="6263640" y="3145536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0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EOR named per project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263640" y="356616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Lead Engineer / Engineer of Record owns design integrity and all technical procurement content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989320" y="4663440"/>
            <a:ext cx="5742432" cy="146304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/>
        </p:spPr>
      </p:sp>
      <p:sp>
        <p:nvSpPr>
          <p:cNvPr id="16" name="Text 13"/>
          <p:cNvSpPr/>
          <p:nvPr/>
        </p:nvSpPr>
        <p:spPr>
          <a:xfrm>
            <a:off x="6263640" y="4791456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0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CVR PM ≠ EOR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263640" y="521208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dedicated PM is a PMP/PE and a different person than the engineering lead — checks and balances by design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CVR-PROC-001 Rev 0  ·  July 23, 2026  ·  Utility Supply &amp; Construction Company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solidFill>
            <a:srgbClr val="D017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88720" y="38404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PROCESS, ONE BACKBONE</a:t>
            </a:r>
            <a:endParaRPr lang="en-US" sz="3000" dirty="0"/>
          </a:p>
        </p:txBody>
      </p:sp>
      <p:pic>
        <p:nvPicPr>
          <p:cNvPr id="4" name="Image 0" descr="/tmp/claude-0/-home-user-Codling-Todo/adc1606a-e2f8-54c8-9035-b3a48e0e63b2/scratchpa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457200"/>
            <a:ext cx="1170432" cy="25765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29768" y="1920240"/>
            <a:ext cx="2157984" cy="26517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9050">
            <a:solidFill>
              <a:srgbClr val="39393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29768" y="1920240"/>
            <a:ext cx="2157984" cy="566928"/>
          </a:xfrm>
          <a:prstGeom prst="rect">
            <a:avLst/>
          </a:prstGeom>
          <a:solidFill>
            <a:srgbClr val="D0171F"/>
          </a:solidFill>
          <a:ln/>
        </p:spPr>
      </p:sp>
      <p:sp>
        <p:nvSpPr>
          <p:cNvPr id="7" name="Text 4"/>
          <p:cNvSpPr/>
          <p:nvPr/>
        </p:nvSpPr>
        <p:spPr>
          <a:xfrm>
            <a:off x="429768" y="1920240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6928" y="2651760"/>
            <a:ext cx="1883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CVR Engineering (EOR)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66928" y="3337560"/>
            <a:ext cx="1883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Quantity takeoffs and technical specifications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624328" y="3127248"/>
            <a:ext cx="219456" cy="237744"/>
          </a:xfrm>
          <a:prstGeom prst="chevron">
            <a:avLst/>
          </a:prstGeom>
          <a:solidFill>
            <a:srgbClr val="D0171F"/>
          </a:solidFill>
          <a:ln/>
        </p:spPr>
      </p:sp>
      <p:sp>
        <p:nvSpPr>
          <p:cNvPr id="11" name="Shape 8"/>
          <p:cNvSpPr/>
          <p:nvPr/>
        </p:nvSpPr>
        <p:spPr>
          <a:xfrm>
            <a:off x="2807208" y="1920240"/>
            <a:ext cx="2157984" cy="26517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9050">
            <a:solidFill>
              <a:srgbClr val="39393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07208" y="1920240"/>
            <a:ext cx="2157984" cy="566928"/>
          </a:xfrm>
          <a:prstGeom prst="rect">
            <a:avLst/>
          </a:prstGeom>
          <a:solidFill>
            <a:srgbClr val="D0171F"/>
          </a:solidFill>
          <a:ln/>
        </p:spPr>
      </p:sp>
      <p:sp>
        <p:nvSpPr>
          <p:cNvPr id="13" name="Text 10"/>
          <p:cNvSpPr/>
          <p:nvPr/>
        </p:nvSpPr>
        <p:spPr>
          <a:xfrm>
            <a:off x="2807208" y="1920240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2944368" y="2651760"/>
            <a:ext cx="1883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CVR Estimating + HWC PM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2944368" y="3337560"/>
            <a:ext cx="1883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cost codes; constructability validated by the field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001768" y="3127248"/>
            <a:ext cx="219456" cy="237744"/>
          </a:xfrm>
          <a:prstGeom prst="chevron">
            <a:avLst/>
          </a:prstGeom>
          <a:solidFill>
            <a:srgbClr val="D0171F"/>
          </a:solidFill>
          <a:ln/>
        </p:spPr>
      </p:sp>
      <p:sp>
        <p:nvSpPr>
          <p:cNvPr id="17" name="Shape 14"/>
          <p:cNvSpPr/>
          <p:nvPr/>
        </p:nvSpPr>
        <p:spPr>
          <a:xfrm>
            <a:off x="5184648" y="1920240"/>
            <a:ext cx="2157984" cy="26517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9050">
            <a:solidFill>
              <a:srgbClr val="39393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184648" y="1920240"/>
            <a:ext cx="2157984" cy="566928"/>
          </a:xfrm>
          <a:prstGeom prst="rect">
            <a:avLst/>
          </a:prstGeom>
          <a:solidFill>
            <a:srgbClr val="D0171F"/>
          </a:solidFill>
          <a:ln/>
        </p:spPr>
      </p:sp>
      <p:sp>
        <p:nvSpPr>
          <p:cNvPr id="19" name="Text 16"/>
          <p:cNvSpPr/>
          <p:nvPr/>
        </p:nvSpPr>
        <p:spPr>
          <a:xfrm>
            <a:off x="5184648" y="1920240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321808" y="2651760"/>
            <a:ext cx="1883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EOR → Transmittal → PLS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321808" y="3337560"/>
            <a:ext cx="1883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 timing driven by P6 schedule need dates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379208" y="3127248"/>
            <a:ext cx="219456" cy="237744"/>
          </a:xfrm>
          <a:prstGeom prst="chevron">
            <a:avLst/>
          </a:prstGeom>
          <a:solidFill>
            <a:srgbClr val="D0171F"/>
          </a:solidFill>
          <a:ln/>
        </p:spPr>
      </p:sp>
      <p:sp>
        <p:nvSpPr>
          <p:cNvPr id="23" name="Shape 20"/>
          <p:cNvSpPr/>
          <p:nvPr/>
        </p:nvSpPr>
        <p:spPr>
          <a:xfrm>
            <a:off x="7562088" y="1920240"/>
            <a:ext cx="2157984" cy="26517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9050">
            <a:solidFill>
              <a:srgbClr val="39393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562088" y="1920240"/>
            <a:ext cx="2157984" cy="566928"/>
          </a:xfrm>
          <a:prstGeom prst="rect">
            <a:avLst/>
          </a:prstGeom>
          <a:solidFill>
            <a:srgbClr val="D0171F"/>
          </a:solidFill>
          <a:ln/>
        </p:spPr>
      </p:sp>
      <p:sp>
        <p:nvSpPr>
          <p:cNvPr id="25" name="Text 22"/>
          <p:cNvSpPr/>
          <p:nvPr/>
        </p:nvSpPr>
        <p:spPr>
          <a:xfrm>
            <a:off x="7562088" y="1920240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7699248" y="2651760"/>
            <a:ext cx="1883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CVR PM ↔ HWC PM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7699248" y="3337560"/>
            <a:ext cx="1883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Resource-loaded P6 schedule; cost tracked vs. estimate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9756648" y="3127248"/>
            <a:ext cx="219456" cy="237744"/>
          </a:xfrm>
          <a:prstGeom prst="chevron">
            <a:avLst/>
          </a:prstGeom>
          <a:solidFill>
            <a:srgbClr val="D0171F"/>
          </a:solidFill>
          <a:ln/>
        </p:spPr>
      </p:sp>
      <p:sp>
        <p:nvSpPr>
          <p:cNvPr id="29" name="Shape 26"/>
          <p:cNvSpPr/>
          <p:nvPr/>
        </p:nvSpPr>
        <p:spPr>
          <a:xfrm>
            <a:off x="9939528" y="1920240"/>
            <a:ext cx="2157984" cy="26517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9050">
            <a:solidFill>
              <a:srgbClr val="393939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939528" y="1920240"/>
            <a:ext cx="2157984" cy="566928"/>
          </a:xfrm>
          <a:prstGeom prst="rect">
            <a:avLst/>
          </a:prstGeom>
          <a:solidFill>
            <a:srgbClr val="D0171F"/>
          </a:solidFill>
          <a:ln/>
        </p:spPr>
      </p:sp>
      <p:sp>
        <p:nvSpPr>
          <p:cNvPr id="31" name="Text 28"/>
          <p:cNvSpPr/>
          <p:nvPr/>
        </p:nvSpPr>
        <p:spPr>
          <a:xfrm>
            <a:off x="9939528" y="1920240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OUT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10076688" y="2651760"/>
            <a:ext cx="1883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functions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10076688" y="3337560"/>
            <a:ext cx="1883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Actuals and lessons feed the estimating library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502920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/>
        </p:spPr>
      </p:sp>
      <p:sp>
        <p:nvSpPr>
          <p:cNvPr id="35" name="Text 32"/>
          <p:cNvSpPr/>
          <p:nvPr/>
        </p:nvSpPr>
        <p:spPr>
          <a:xfrm>
            <a:off x="777240" y="51206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0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dependency handled by design:  </a:t>
            </a:r>
            <a:pPr indent="0" marL="0">
              <a:buNone/>
            </a:pPr>
            <a:r>
              <a:rPr lang="en-US" sz="14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schedule-prerequisite projects (e.g., TRK-4911, design/built by Burns &amp; McDonnell) enter the P6 schedule as tracked external predecessor milestones.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CVR-PROC-001 Rev 0  ·  July 23, 2026  ·  Utility Supply &amp; Construction Company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solidFill>
            <a:srgbClr val="D017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88720" y="38404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CVR-PLS TRANSMITTAL SYSTEM</a:t>
            </a:r>
            <a:endParaRPr lang="en-US" sz="3000" dirty="0"/>
          </a:p>
        </p:txBody>
      </p:sp>
      <p:pic>
        <p:nvPicPr>
          <p:cNvPr id="4" name="Image 0" descr="/tmp/claude-0/-home-user-Codling-Todo/adc1606a-e2f8-54c8-9035-b3a48e0e63b2/scratchpa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457200"/>
            <a:ext cx="1170432" cy="2576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channel by which material requirements reach Power Line Supply — no verbal orders, no email-thread BOMs.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1965960"/>
            <a:ext cx="3630168" cy="1783080"/>
          </a:xfrm>
          <a:prstGeom prst="roundRect">
            <a:avLst>
              <a:gd name="adj" fmla="val 4103"/>
            </a:avLst>
          </a:prstGeom>
          <a:solidFill>
            <a:srgbClr val="F2F2F2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21031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0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Numbered &amp; revision-controlled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85800" y="26974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NB-PLS-004 Rev B — an auditable record of what was ordered, when, and on whose authority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15968" y="1965960"/>
            <a:ext cx="3630168" cy="1783080"/>
          </a:xfrm>
          <a:prstGeom prst="roundRect">
            <a:avLst>
              <a:gd name="adj" fmla="val 4103"/>
            </a:avLst>
          </a:prstGeom>
          <a:solidFill>
            <a:srgbClr val="F2F2F2"/>
          </a:solidFill>
          <a:ln/>
        </p:spPr>
      </p:sp>
      <p:sp>
        <p:nvSpPr>
          <p:cNvPr id="10" name="Text 7"/>
          <p:cNvSpPr/>
          <p:nvPr/>
        </p:nvSpPr>
        <p:spPr>
          <a:xfrm>
            <a:off x="4544568" y="21031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0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signature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4544568" y="26974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EOR signs for technical accuracy; CVR PM signs for budget and schedule alignment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174736" y="1965960"/>
            <a:ext cx="3630168" cy="1783080"/>
          </a:xfrm>
          <a:prstGeom prst="roundRect">
            <a:avLst>
              <a:gd name="adj" fmla="val 4103"/>
            </a:avLst>
          </a:prstGeom>
          <a:solidFill>
            <a:srgbClr val="F2F2F2"/>
          </a:solidFill>
          <a:ln/>
        </p:spPr>
      </p:sp>
      <p:sp>
        <p:nvSpPr>
          <p:cNvPr id="13" name="Text 10"/>
          <p:cNvSpPr/>
          <p:nvPr/>
        </p:nvSpPr>
        <p:spPr>
          <a:xfrm>
            <a:off x="8403336" y="21031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0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Schedule-driven need dates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403336" y="26974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Required-on-site dates pulled from P6; PO deadline = need date − lead time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3931920"/>
            <a:ext cx="3630168" cy="1783080"/>
          </a:xfrm>
          <a:prstGeom prst="roundRect">
            <a:avLst>
              <a:gd name="adj" fmla="val 4103"/>
            </a:avLst>
          </a:prstGeom>
          <a:solidFill>
            <a:srgbClr val="F2F2F2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40690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0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PLS acknowledgment SLA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685800" y="466344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Pricing, lead times, and promise dates confirmed within 5 business days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315968" y="3931920"/>
            <a:ext cx="3630168" cy="1783080"/>
          </a:xfrm>
          <a:prstGeom prst="roundRect">
            <a:avLst>
              <a:gd name="adj" fmla="val 4103"/>
            </a:avLst>
          </a:prstGeom>
          <a:solidFill>
            <a:srgbClr val="F2F2F2"/>
          </a:solidFill>
          <a:ln/>
        </p:spPr>
      </p:sp>
      <p:sp>
        <p:nvSpPr>
          <p:cNvPr id="19" name="Text 16"/>
          <p:cNvSpPr/>
          <p:nvPr/>
        </p:nvSpPr>
        <p:spPr>
          <a:xfrm>
            <a:off x="4544568" y="40690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0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control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4544568" y="466344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change to part number, quantity, spec, or date = new revision, same dual signature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174736" y="3931920"/>
            <a:ext cx="3630168" cy="1783080"/>
          </a:xfrm>
          <a:prstGeom prst="roundRect">
            <a:avLst>
              <a:gd name="adj" fmla="val 4103"/>
            </a:avLst>
          </a:prstGeom>
          <a:solidFill>
            <a:srgbClr val="F2F2F2"/>
          </a:solidFill>
          <a:ln/>
        </p:spPr>
      </p:sp>
      <p:sp>
        <p:nvSpPr>
          <p:cNvPr id="22" name="Text 19"/>
          <p:cNvSpPr/>
          <p:nvPr/>
        </p:nvSpPr>
        <p:spPr>
          <a:xfrm>
            <a:off x="8403336" y="40690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0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simple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8403336" y="466344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SharePoint form + status register now; graduate to a platform when volume justifies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393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zero procurement rework from wrong part numbers or quantities.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CVR-PROC-001 Rev 0  ·  July 23, 2026  ·  Utility Supply &amp; Construction Company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solidFill>
            <a:srgbClr val="D017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88720" y="38404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ROADMAP: PROCESS FIRST, PLATFORM SECOND</a:t>
            </a:r>
            <a:endParaRPr lang="en-US" sz="3000" dirty="0"/>
          </a:p>
        </p:txBody>
      </p:sp>
      <p:pic>
        <p:nvPicPr>
          <p:cNvPr id="4" name="Image 0" descr="/tmp/claude-0/-home-user-Codling-Todo/adc1606a-e2f8-54c8-9035-b3a48e0e63b2/scratchpa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457200"/>
            <a:ext cx="1170432" cy="25765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371600"/>
            <a:ext cx="3630168" cy="3383280"/>
          </a:xfrm>
          <a:prstGeom prst="roundRect">
            <a:avLst>
              <a:gd name="adj" fmla="val 2162"/>
            </a:avLst>
          </a:prstGeom>
          <a:solidFill>
            <a:srgbClr val="F2F2F2"/>
          </a:solidFill>
          <a:ln/>
        </p:spPr>
      </p:sp>
      <p:sp>
        <p:nvSpPr>
          <p:cNvPr id="6" name="Text 3"/>
          <p:cNvSpPr/>
          <p:nvPr/>
        </p:nvSpPr>
        <p:spPr>
          <a:xfrm>
            <a:off x="713232" y="15727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CRAWL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13232" y="206654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0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– 60 days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13232" y="241401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~$10–15k internal effort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13232" y="2871216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SharePoint/Teams transmittal register, WO cost workbook, standard templates — on tools we already own. No new spend.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15968" y="1371600"/>
            <a:ext cx="3630168" cy="3383280"/>
          </a:xfrm>
          <a:prstGeom prst="roundRect">
            <a:avLst>
              <a:gd name="adj" fmla="val 2162"/>
            </a:avLst>
          </a:prstGeom>
          <a:solidFill>
            <a:srgbClr val="393939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0" y="15727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572000" y="206654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1B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 – Q2 2027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0" y="241401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$75–150k first year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572000" y="2871216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pilot on New Baltimore: Oracle Primavera Unifier vs. InEight, head-to-head. Estimating tool selection folds in.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174736" y="1371600"/>
            <a:ext cx="3630168" cy="3383280"/>
          </a:xfrm>
          <a:prstGeom prst="roundRect">
            <a:avLst>
              <a:gd name="adj" fmla="val 2162"/>
            </a:avLst>
          </a:prstGeom>
          <a:solidFill>
            <a:srgbClr val="D0171F"/>
          </a:solidFill>
          <a:ln/>
        </p:spPr>
      </p:sp>
      <p:sp>
        <p:nvSpPr>
          <p:cNvPr id="16" name="Text 13"/>
          <p:cNvSpPr/>
          <p:nvPr/>
        </p:nvSpPr>
        <p:spPr>
          <a:xfrm>
            <a:off x="8430768" y="15727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8430768" y="206654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– 2028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430768" y="241401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$150–400k/yr run-rate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430768" y="2871216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rollout: platform + P6 + estimating tool + ERP feed. Estimate → PO → schedule → actuals on one backbone.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502920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7240" y="51206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0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software commitment is requested today.  </a:t>
            </a:r>
            <a:pPr indent="0" marL="0">
              <a:buNone/>
            </a:pPr>
            <a:r>
              <a:rPr lang="en-US" sz="135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Budgetary quotes from Oracle and InEight are a Walk-phase deliverable; the platform decision comes to the quarterly Portfolio/Governance Review. ROM figures are planning-level.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CVR-PROC-001 Rev 0  ·  July 23, 2026  ·  Utility Supply &amp; Construction Company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solidFill>
            <a:srgbClr val="D017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88720" y="38404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OPTIONS &amp; ROM COSTS</a:t>
            </a:r>
            <a:endParaRPr lang="en-US" sz="3000" dirty="0"/>
          </a:p>
        </p:txBody>
      </p:sp>
      <p:pic>
        <p:nvPicPr>
          <p:cNvPr id="4" name="Image 0" descr="/tmp/claude-0/-home-user-Codling-Todo/adc1606a-e2f8-54c8-9035-b3a48e0e63b2/scratchpa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457200"/>
            <a:ext cx="1170432" cy="257658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108960"/>
                <a:gridCol w="1188720"/>
                <a:gridCol w="2377440"/>
                <a:gridCol w="228600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P6 link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ROM cost (planning-level)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Assessment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393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Oracle Primavera Unifier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Capital program cost mgmt tied to P6 WBS; workflows incl. transmittals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Native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$75–250k/yr + $100–300k impl.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Strongest Capital Delivery match; heaviest lift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InEight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Contractor suite; estimate → cost codes → controls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$50–150k/yr + $50–150k impl.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Lighter-lift challenger — evaluate head-to-head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Oracle Aconex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Controlled transmittals &amp; document control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Oracle ecosystem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$30–100k/yr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Add-on if volume outgrows SharePoint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Procore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Field/construction PM; best field UX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3rd-party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$40–120k/yr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Complement at HWC field end — not the backbone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HCSS HeavyBid / InEight Estimate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Estimating (evaluation already underway)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Export to P6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$15–50k/yr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Choose together with the platform — one data model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58064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0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</a:t>
            </a:r>
            <a:pPr indent="0" marL="0">
              <a:buNone/>
            </a:pPr>
            <a:r>
              <a:rPr lang="en-US" sz="14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two-vendor evaluation — Unifier vs. InEight — piloted against New Baltimore’s 39-work-order reconciliation, decision at the quarterly governance review.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CVR-PROC-001 Rev 0  ·  July 23, 2026  ·  Utility Supply &amp; Construction Company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solidFill>
            <a:srgbClr val="D017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88720" y="38404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RHYTHM &amp; ACCOUNTABILITY</a:t>
            </a:r>
            <a:endParaRPr lang="en-US" sz="3000" dirty="0"/>
          </a:p>
        </p:txBody>
      </p:sp>
      <p:pic>
        <p:nvPicPr>
          <p:cNvPr id="4" name="Image 0" descr="/tmp/claude-0/-home-user-Codling-Todo/adc1606a-e2f8-54c8-9035-b3a48e0e63b2/scratchpa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457200"/>
            <a:ext cx="1170432" cy="2576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325880"/>
            <a:ext cx="1737360" cy="731520"/>
          </a:xfrm>
          <a:prstGeom prst="rect">
            <a:avLst/>
          </a:prstGeom>
          <a:solidFill>
            <a:srgbClr val="D017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423160" y="1325880"/>
            <a:ext cx="9235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CVR PM ↔ HWC Construction PM sync — never cancelled; the anchor of the process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2194560"/>
            <a:ext cx="1737360" cy="731520"/>
          </a:xfrm>
          <a:prstGeom prst="rect">
            <a:avLst/>
          </a:prstGeom>
          <a:solidFill>
            <a:srgbClr val="39393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BIWEEKLY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423160" y="2194560"/>
            <a:ext cx="9235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&amp; expediting review — transmittal register, promise vs. need dates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3063240"/>
            <a:ext cx="1737360" cy="731520"/>
          </a:xfrm>
          <a:prstGeom prst="rect">
            <a:avLst/>
          </a:prstGeom>
          <a:solidFill>
            <a:srgbClr val="39393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423160" y="3063240"/>
            <a:ext cx="9235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Cost/GP review + P6 re-forecast — same week, so cost and schedule tell one story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3931920"/>
            <a:ext cx="1737360" cy="731520"/>
          </a:xfrm>
          <a:prstGeom prst="rect">
            <a:avLst/>
          </a:prstGeom>
          <a:solidFill>
            <a:srgbClr val="39393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423160" y="3931920"/>
            <a:ext cx="9235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&amp; governance review with SVP Engineering / COO — GP, exceptions, lessons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4892040"/>
            <a:ext cx="11247120" cy="1325880"/>
          </a:xfrm>
          <a:prstGeom prst="roundRect">
            <a:avLst>
              <a:gd name="adj" fmla="val 5517"/>
            </a:avLst>
          </a:prstGeom>
          <a:solidFill>
            <a:srgbClr val="F2F2F2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50292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Accountability, made structural (full RACI in the process document):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CVR PM accountable for capital delivery  ·  EOR accountable for everything technical  ·  HWC PM accountable for the field  ·  SVP/COO accountable only at the gates — leadership out of the daily critical path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CVR-PROC-001 Rev 0  ·  July 23, 2026  ·  Utility Supply &amp; Construction Company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939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D0171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167335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D0171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160020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the integrated process — mandatory ≥ $500k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38658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D0171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86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08760" y="2313432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the estimating move into CVR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309981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D0171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08760" y="3026664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the dedicated CVR PM team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381304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D0171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08760" y="3739896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Endorse the CVR → PLS transmittal system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22960" y="45262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D0171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08760" y="445312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Green-light the New Baltimore pilot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53949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return: GP forecasting as a standing report, on-time material, zero procurement rework, and project controls our IOU clients will recognize as their own.</a:t>
            </a:r>
            <a:endParaRPr lang="en-US" sz="1500" dirty="0"/>
          </a:p>
        </p:txBody>
      </p:sp>
      <p:pic>
        <p:nvPicPr>
          <p:cNvPr id="20" name="Image 0" descr="/tmp/claude-0/-home-user-Codling-Todo/adc1606a-e2f8-54c8-9035-b3a48e0e63b2/scratchpad/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1051560"/>
            <a:ext cx="2834640" cy="624015"/>
          </a:xfrm>
          <a:prstGeom prst="rect">
            <a:avLst/>
          </a:prstGeom>
        </p:spPr>
      </p:pic>
      <p:pic>
        <p:nvPicPr>
          <p:cNvPr id="21" name="Image 1" descr="/tmp/claude-0/-home-user-Codling-Todo/adc1606a-e2f8-54c8-9035-b3a48e0e63b2/scratchpad/q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2377440"/>
            <a:ext cx="1417320" cy="14173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778240" y="388620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uscco.com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8229600" y="6309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E31B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UTILITY  ·  100% OF THE TIME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2026-07-23T21:51:47Z</dcterms:created>
  <dcterms:modified xsi:type="dcterms:W3CDTF">2026-07-23T21:51:47Z</dcterms:modified>
</cp:coreProperties>
</file>