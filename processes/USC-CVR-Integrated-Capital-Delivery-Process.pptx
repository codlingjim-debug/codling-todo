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39393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28016"/>
          </a:xfrm>
          <a:prstGeom prst="rect">
            <a:avLst/>
          </a:prstGeom>
          <a:solidFill>
            <a:srgbClr val="D0171F"/>
          </a:solidFill>
          <a:ln/>
        </p:spPr>
      </p:sp>
      <p:pic>
        <p:nvPicPr>
          <p:cNvPr id="3" name="Image 0" descr="/tmp/claude-0/-home-user-Codling-Todo/adc1606a-e2f8-54c8-9035-b3a48e0e63b2/scratchpad/logo-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822960"/>
            <a:ext cx="3108960" cy="684403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22960" y="2286000"/>
            <a:ext cx="105156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spc="1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INTEGRATED CAPITAL DELIVERY PROCESS</a:t>
            </a:r>
            <a:endParaRPr lang="en-US" sz="4800" dirty="0"/>
          </a:p>
        </p:txBody>
      </p:sp>
      <p:sp>
        <p:nvSpPr>
          <p:cNvPr id="5" name="Text 2"/>
          <p:cNvSpPr/>
          <p:nvPr/>
        </p:nvSpPr>
        <p:spPr>
          <a:xfrm>
            <a:off x="822960" y="365760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DDDDD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Engineering  ·  Estimating  ·  Procurement  ·  Project Management  |  CVR &amp; HWC</a:t>
            </a:r>
            <a:endParaRPr lang="en-US" sz="2000" dirty="0"/>
          </a:p>
        </p:txBody>
      </p:sp>
      <p:sp>
        <p:nvSpPr>
          <p:cNvPr id="6" name="Text 3"/>
          <p:cNvSpPr/>
          <p:nvPr/>
        </p:nvSpPr>
        <p:spPr>
          <a:xfrm>
            <a:off x="822960" y="4617720"/>
            <a:ext cx="4023360" cy="502920"/>
          </a:xfrm>
          <a:prstGeom prst="rect">
            <a:avLst/>
          </a:prstGeom>
          <a:solidFill>
            <a:srgbClr val="D0171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 CEO / COO APPROVAL</a:t>
            </a:r>
            <a:endParaRPr lang="en-US" sz="1800" dirty="0"/>
          </a:p>
        </p:txBody>
      </p:sp>
      <p:sp>
        <p:nvSpPr>
          <p:cNvPr id="7" name="Text 4"/>
          <p:cNvSpPr/>
          <p:nvPr/>
        </p:nvSpPr>
        <p:spPr>
          <a:xfrm>
            <a:off x="822960" y="603504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BBBB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Presented by the SVP of Engineering  ·  Document CVR-PROC-001 Rev 0  ·  July 2026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7680960" y="82296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spc="200" kern="0" dirty="0">
                <a:solidFill>
                  <a:srgbClr val="E31B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100% UTILITY  ·  100% OF THE TIME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566928" cy="566928"/>
          </a:xfrm>
          <a:prstGeom prst="rect">
            <a:avLst/>
          </a:prstGeom>
          <a:solidFill>
            <a:srgbClr val="D0171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1188720" y="384048"/>
            <a:ext cx="9692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spc="100" kern="0" dirty="0">
                <a:solidFill>
                  <a:srgbClr val="231F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WHY CHANGE, WHY NOW</a:t>
            </a:r>
            <a:endParaRPr lang="en-US" sz="3000" dirty="0"/>
          </a:p>
        </p:txBody>
      </p:sp>
      <p:pic>
        <p:nvPicPr>
          <p:cNvPr id="4" name="Image 0" descr="/tmp/claude-0/-home-user-Codling-Todo/adc1606a-e2f8-54c8-9035-b3a48e0e63b2/scratchpad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61320" y="457200"/>
            <a:ext cx="1170432" cy="257658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457200" y="1234440"/>
            <a:ext cx="112471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31F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Today, engineering, estimating, procurement, and project management sit in different organizations, connected by email and network drives. The cost of those seams:</a:t>
            </a:r>
            <a:endParaRPr lang="en-US" sz="1600" dirty="0"/>
          </a:p>
        </p:txBody>
      </p:sp>
      <p:sp>
        <p:nvSpPr>
          <p:cNvPr id="6" name="Shape 3"/>
          <p:cNvSpPr/>
          <p:nvPr/>
        </p:nvSpPr>
        <p:spPr>
          <a:xfrm>
            <a:off x="457200" y="2103120"/>
            <a:ext cx="5440680" cy="1234440"/>
          </a:xfrm>
          <a:prstGeom prst="roundRect">
            <a:avLst>
              <a:gd name="adj" fmla="val 5926"/>
            </a:avLst>
          </a:prstGeom>
          <a:solidFill>
            <a:srgbClr val="F2F2F2"/>
          </a:solidFill>
          <a:ln/>
        </p:spPr>
      </p:sp>
      <p:sp>
        <p:nvSpPr>
          <p:cNvPr id="7" name="Text 4"/>
          <p:cNvSpPr/>
          <p:nvPr/>
        </p:nvSpPr>
        <p:spPr>
          <a:xfrm>
            <a:off x="685800" y="2212848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017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Estimates built blind</a:t>
            </a:r>
            <a:endParaRPr lang="en-US" sz="1600" dirty="0"/>
          </a:p>
        </p:txBody>
      </p:sp>
      <p:sp>
        <p:nvSpPr>
          <p:cNvPr id="8" name="Text 5"/>
          <p:cNvSpPr/>
          <p:nvPr/>
        </p:nvSpPr>
        <p:spPr>
          <a:xfrm>
            <a:off x="685800" y="2578608"/>
            <a:ext cx="5029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231F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Estimates assembled without design quantities or field production input</a:t>
            </a:r>
            <a:endParaRPr lang="en-US" sz="1350" dirty="0"/>
          </a:p>
        </p:txBody>
      </p:sp>
      <p:sp>
        <p:nvSpPr>
          <p:cNvPr id="9" name="Shape 6"/>
          <p:cNvSpPr/>
          <p:nvPr/>
        </p:nvSpPr>
        <p:spPr>
          <a:xfrm>
            <a:off x="6172200" y="2103120"/>
            <a:ext cx="5440680" cy="1234440"/>
          </a:xfrm>
          <a:prstGeom prst="roundRect">
            <a:avLst>
              <a:gd name="adj" fmla="val 5926"/>
            </a:avLst>
          </a:prstGeom>
          <a:solidFill>
            <a:srgbClr val="F2F2F2"/>
          </a:solidFill>
          <a:ln/>
        </p:spPr>
      </p:sp>
      <p:sp>
        <p:nvSpPr>
          <p:cNvPr id="10" name="Text 7"/>
          <p:cNvSpPr/>
          <p:nvPr/>
        </p:nvSpPr>
        <p:spPr>
          <a:xfrm>
            <a:off x="6400800" y="2212848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017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Unverified purchasing</a:t>
            </a:r>
            <a:endParaRPr lang="en-US" sz="1600" dirty="0"/>
          </a:p>
        </p:txBody>
      </p:sp>
      <p:sp>
        <p:nvSpPr>
          <p:cNvPr id="11" name="Text 8"/>
          <p:cNvSpPr/>
          <p:nvPr/>
        </p:nvSpPr>
        <p:spPr>
          <a:xfrm>
            <a:off x="6400800" y="2578608"/>
            <a:ext cx="5029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231F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POs placed without engineering verification of part numbers and quantities</a:t>
            </a:r>
            <a:endParaRPr lang="en-US" sz="1350" dirty="0"/>
          </a:p>
        </p:txBody>
      </p:sp>
      <p:sp>
        <p:nvSpPr>
          <p:cNvPr id="12" name="Shape 9"/>
          <p:cNvSpPr/>
          <p:nvPr/>
        </p:nvSpPr>
        <p:spPr>
          <a:xfrm>
            <a:off x="457200" y="3520440"/>
            <a:ext cx="5440680" cy="1234440"/>
          </a:xfrm>
          <a:prstGeom prst="roundRect">
            <a:avLst>
              <a:gd name="adj" fmla="val 5926"/>
            </a:avLst>
          </a:prstGeom>
          <a:solidFill>
            <a:srgbClr val="F2F2F2"/>
          </a:solidFill>
          <a:ln/>
        </p:spPr>
      </p:sp>
      <p:sp>
        <p:nvSpPr>
          <p:cNvPr id="13" name="Text 10"/>
          <p:cNvSpPr/>
          <p:nvPr/>
        </p:nvSpPr>
        <p:spPr>
          <a:xfrm>
            <a:off x="685800" y="3630168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017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GP surprises</a:t>
            </a:r>
            <a:endParaRPr lang="en-US" sz="1600" dirty="0"/>
          </a:p>
        </p:txBody>
      </p:sp>
      <p:sp>
        <p:nvSpPr>
          <p:cNvPr id="14" name="Text 11"/>
          <p:cNvSpPr/>
          <p:nvPr/>
        </p:nvSpPr>
        <p:spPr>
          <a:xfrm>
            <a:off x="685800" y="3995928"/>
            <a:ext cx="5029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231F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Margin erosion discovered after the money is spent, not while it can be managed</a:t>
            </a:r>
            <a:endParaRPr lang="en-US" sz="1350" dirty="0"/>
          </a:p>
        </p:txBody>
      </p:sp>
      <p:sp>
        <p:nvSpPr>
          <p:cNvPr id="15" name="Shape 12"/>
          <p:cNvSpPr/>
          <p:nvPr/>
        </p:nvSpPr>
        <p:spPr>
          <a:xfrm>
            <a:off x="6172200" y="3520440"/>
            <a:ext cx="5440680" cy="1234440"/>
          </a:xfrm>
          <a:prstGeom prst="roundRect">
            <a:avLst>
              <a:gd name="adj" fmla="val 5926"/>
            </a:avLst>
          </a:prstGeom>
          <a:solidFill>
            <a:srgbClr val="F2F2F2"/>
          </a:solidFill>
          <a:ln/>
        </p:spPr>
      </p:sp>
      <p:sp>
        <p:nvSpPr>
          <p:cNvPr id="16" name="Text 13"/>
          <p:cNvSpPr/>
          <p:nvPr/>
        </p:nvSpPr>
        <p:spPr>
          <a:xfrm>
            <a:off x="6400800" y="3630168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017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Schedules that don’t drive buying</a:t>
            </a:r>
            <a:endParaRPr lang="en-US" sz="1600" dirty="0"/>
          </a:p>
        </p:txBody>
      </p:sp>
      <p:sp>
        <p:nvSpPr>
          <p:cNvPr id="17" name="Text 14"/>
          <p:cNvSpPr/>
          <p:nvPr/>
        </p:nvSpPr>
        <p:spPr>
          <a:xfrm>
            <a:off x="6400800" y="3995928"/>
            <a:ext cx="5029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231F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Material ordering disconnected from construction need dates</a:t>
            </a:r>
            <a:endParaRPr lang="en-US" sz="1350" dirty="0"/>
          </a:p>
        </p:txBody>
      </p:sp>
      <p:sp>
        <p:nvSpPr>
          <p:cNvPr id="18" name="Shape 15"/>
          <p:cNvSpPr/>
          <p:nvPr/>
        </p:nvSpPr>
        <p:spPr>
          <a:xfrm>
            <a:off x="457200" y="5166360"/>
            <a:ext cx="11247120" cy="1051560"/>
          </a:xfrm>
          <a:prstGeom prst="roundRect">
            <a:avLst>
              <a:gd name="adj" fmla="val 6957"/>
            </a:avLst>
          </a:prstGeom>
          <a:solidFill>
            <a:srgbClr val="393939"/>
          </a:solidFill>
          <a:ln/>
        </p:spPr>
      </p:sp>
      <p:sp>
        <p:nvSpPr>
          <p:cNvPr id="19" name="Text 16"/>
          <p:cNvSpPr/>
          <p:nvPr/>
        </p:nvSpPr>
        <p:spPr>
          <a:xfrm>
            <a:off x="777240" y="5257800"/>
            <a:ext cx="106984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stakes are rising:  </a:t>
            </a:r>
            <a:pPr indent="0" marL="0">
              <a:buNone/>
            </a:pPr>
            <a:r>
              <a:rPr lang="en-US" sz="1500" dirty="0">
                <a:solidFill>
                  <a:srgbClr val="EEEE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our IOU clients (DTE and others) are moving to open-book arrangements — they are effectively auditing our project controls. Predictable delivery is becoming a condition of winning the work.</a:t>
            </a:r>
            <a:endParaRPr lang="en-US" sz="1500" dirty="0"/>
          </a:p>
        </p:txBody>
      </p:sp>
      <p:sp>
        <p:nvSpPr>
          <p:cNvPr id="20" name="Text 17"/>
          <p:cNvSpPr/>
          <p:nvPr/>
        </p:nvSpPr>
        <p:spPr>
          <a:xfrm>
            <a:off x="457200" y="6473952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CVR-PROC-001 Rev 0  ·  July 23, 2026  ·  Utility Supply &amp; Construction Company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566928" cy="566928"/>
          </a:xfrm>
          <a:prstGeom prst="rect">
            <a:avLst/>
          </a:prstGeom>
          <a:solidFill>
            <a:srgbClr val="D0171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1188720" y="384048"/>
            <a:ext cx="9692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spc="100" kern="0" dirty="0">
                <a:solidFill>
                  <a:srgbClr val="231F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DECISIONS REQUESTED</a:t>
            </a:r>
            <a:endParaRPr lang="en-US" sz="3000" dirty="0"/>
          </a:p>
        </p:txBody>
      </p:sp>
      <p:pic>
        <p:nvPicPr>
          <p:cNvPr id="4" name="Image 0" descr="/tmp/claude-0/-home-user-Codling-Todo/adc1606a-e2f8-54c8-9035-b3a48e0e63b2/scratchpad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61320" y="457200"/>
            <a:ext cx="1170432" cy="257658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457200" y="1298448"/>
            <a:ext cx="566928" cy="822960"/>
          </a:xfrm>
          <a:prstGeom prst="rect">
            <a:avLst/>
          </a:prstGeom>
          <a:solidFill>
            <a:srgbClr val="D0171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2600" dirty="0"/>
          </a:p>
        </p:txBody>
      </p:sp>
      <p:sp>
        <p:nvSpPr>
          <p:cNvPr id="6" name="Text 3"/>
          <p:cNvSpPr/>
          <p:nvPr/>
        </p:nvSpPr>
        <p:spPr>
          <a:xfrm>
            <a:off x="1234440" y="1298448"/>
            <a:ext cx="10424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31F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Adopt the integrated process</a:t>
            </a:r>
            <a:endParaRPr lang="en-US" sz="1700" dirty="0"/>
          </a:p>
          <a:p>
            <a:pPr indent="0" marL="0">
              <a:buNone/>
            </a:pPr>
            <a:r>
              <a:rPr lang="en-US" sz="135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Mandatory for all projects ≥ $500k; exceptions approved by SVP Engineering or COO</a:t>
            </a:r>
            <a:endParaRPr lang="en-US" sz="1700" dirty="0"/>
          </a:p>
        </p:txBody>
      </p:sp>
      <p:sp>
        <p:nvSpPr>
          <p:cNvPr id="7" name="Text 4"/>
          <p:cNvSpPr/>
          <p:nvPr/>
        </p:nvSpPr>
        <p:spPr>
          <a:xfrm>
            <a:off x="457200" y="2267712"/>
            <a:ext cx="566928" cy="822960"/>
          </a:xfrm>
          <a:prstGeom prst="rect">
            <a:avLst/>
          </a:prstGeom>
          <a:solidFill>
            <a:srgbClr val="D0171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1234440" y="2267712"/>
            <a:ext cx="10424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31F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Move estimating into CVR</a:t>
            </a:r>
            <a:endParaRPr lang="en-US" sz="1700" dirty="0"/>
          </a:p>
          <a:p>
            <a:pPr indent="0" marL="0">
              <a:buNone/>
            </a:pPr>
            <a:r>
              <a:rPr lang="en-US" sz="135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Transition the estimating team from HWC to CVR, reporting to the SVP of Engineering</a:t>
            </a:r>
            <a:endParaRPr lang="en-US" sz="1700" dirty="0"/>
          </a:p>
        </p:txBody>
      </p:sp>
      <p:sp>
        <p:nvSpPr>
          <p:cNvPr id="9" name="Text 6"/>
          <p:cNvSpPr/>
          <p:nvPr/>
        </p:nvSpPr>
        <p:spPr>
          <a:xfrm>
            <a:off x="457200" y="3236976"/>
            <a:ext cx="566928" cy="822960"/>
          </a:xfrm>
          <a:prstGeom prst="rect">
            <a:avLst/>
          </a:prstGeom>
          <a:solidFill>
            <a:srgbClr val="D0171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2600" dirty="0"/>
          </a:p>
        </p:txBody>
      </p:sp>
      <p:sp>
        <p:nvSpPr>
          <p:cNvPr id="10" name="Text 7"/>
          <p:cNvSpPr/>
          <p:nvPr/>
        </p:nvSpPr>
        <p:spPr>
          <a:xfrm>
            <a:off x="1234440" y="3236976"/>
            <a:ext cx="10424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31F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Stand up the dedicated CVR PM team</a:t>
            </a:r>
            <a:endParaRPr lang="en-US" sz="1700" dirty="0"/>
          </a:p>
          <a:p>
            <a:pPr indent="0" marL="0">
              <a:buNone/>
            </a:pPr>
            <a:r>
              <a:rPr lang="en-US" sz="135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PMP/PE-credentialed PMs, separate from engineering leads, operating in the Capital Delivery model with P6</a:t>
            </a:r>
            <a:endParaRPr lang="en-US" sz="1700" dirty="0"/>
          </a:p>
        </p:txBody>
      </p:sp>
      <p:sp>
        <p:nvSpPr>
          <p:cNvPr id="11" name="Text 8"/>
          <p:cNvSpPr/>
          <p:nvPr/>
        </p:nvSpPr>
        <p:spPr>
          <a:xfrm>
            <a:off x="457200" y="4206240"/>
            <a:ext cx="566928" cy="822960"/>
          </a:xfrm>
          <a:prstGeom prst="rect">
            <a:avLst/>
          </a:prstGeom>
          <a:solidFill>
            <a:srgbClr val="D0171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2600" dirty="0"/>
          </a:p>
        </p:txBody>
      </p:sp>
      <p:sp>
        <p:nvSpPr>
          <p:cNvPr id="12" name="Text 9"/>
          <p:cNvSpPr/>
          <p:nvPr/>
        </p:nvSpPr>
        <p:spPr>
          <a:xfrm>
            <a:off x="1234440" y="4206240"/>
            <a:ext cx="10424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31F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Endorse the CVR → PLS transmittal system</a:t>
            </a:r>
            <a:endParaRPr lang="en-US" sz="1700" dirty="0"/>
          </a:p>
          <a:p>
            <a:pPr indent="0" marL="0">
              <a:buNone/>
            </a:pPr>
            <a:r>
              <a:rPr lang="en-US" sz="135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Engineer-verified transmittals as the single channel for material procurement</a:t>
            </a:r>
            <a:endParaRPr lang="en-US" sz="1700" dirty="0"/>
          </a:p>
        </p:txBody>
      </p:sp>
      <p:sp>
        <p:nvSpPr>
          <p:cNvPr id="13" name="Text 10"/>
          <p:cNvSpPr/>
          <p:nvPr/>
        </p:nvSpPr>
        <p:spPr>
          <a:xfrm>
            <a:off x="457200" y="5175504"/>
            <a:ext cx="566928" cy="822960"/>
          </a:xfrm>
          <a:prstGeom prst="rect">
            <a:avLst/>
          </a:prstGeom>
          <a:solidFill>
            <a:srgbClr val="D0171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2600" dirty="0"/>
          </a:p>
        </p:txBody>
      </p:sp>
      <p:sp>
        <p:nvSpPr>
          <p:cNvPr id="14" name="Text 11"/>
          <p:cNvSpPr/>
          <p:nvPr/>
        </p:nvSpPr>
        <p:spPr>
          <a:xfrm>
            <a:off x="1234440" y="5175504"/>
            <a:ext cx="10424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31F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Pilot on New Baltimore</a:t>
            </a:r>
            <a:endParaRPr lang="en-US" sz="1700" dirty="0"/>
          </a:p>
          <a:p>
            <a:pPr indent="0" marL="0">
              <a:buNone/>
            </a:pPr>
            <a:r>
              <a:rPr lang="en-US" sz="135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Prove the process on the 39-work-order program before the spring 2027 construction start</a:t>
            </a:r>
            <a:endParaRPr lang="en-US" sz="1700" dirty="0"/>
          </a:p>
        </p:txBody>
      </p:sp>
      <p:sp>
        <p:nvSpPr>
          <p:cNvPr id="15" name="Text 12"/>
          <p:cNvSpPr/>
          <p:nvPr/>
        </p:nvSpPr>
        <p:spPr>
          <a:xfrm>
            <a:off x="457200" y="6473952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CVR-PROC-001 Rev 0  ·  July 23, 2026  ·  Utility Supply &amp; Construction Company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566928" cy="566928"/>
          </a:xfrm>
          <a:prstGeom prst="rect">
            <a:avLst/>
          </a:prstGeom>
          <a:solidFill>
            <a:srgbClr val="D0171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1188720" y="384048"/>
            <a:ext cx="9692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spc="100" kern="0" dirty="0">
                <a:solidFill>
                  <a:srgbClr val="231F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"CAPITAL DELIVERY" MEANS</a:t>
            </a:r>
            <a:endParaRPr lang="en-US" sz="3000" dirty="0"/>
          </a:p>
        </p:txBody>
      </p:sp>
      <p:pic>
        <p:nvPicPr>
          <p:cNvPr id="4" name="Image 0" descr="/tmp/claude-0/-home-user-Codling-Todo/adc1606a-e2f8-54c8-9035-b3a48e0e63b2/scratchpad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61320" y="457200"/>
            <a:ext cx="1170432" cy="257658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457200" y="1280160"/>
            <a:ext cx="11247120" cy="1371600"/>
          </a:xfrm>
          <a:prstGeom prst="roundRect">
            <a:avLst>
              <a:gd name="adj" fmla="val 5333"/>
            </a:avLst>
          </a:prstGeom>
          <a:solidFill>
            <a:srgbClr val="F2F2F2"/>
          </a:solidFill>
          <a:ln/>
        </p:spPr>
      </p:sp>
      <p:sp>
        <p:nvSpPr>
          <p:cNvPr id="6" name="Text 3"/>
          <p:cNvSpPr/>
          <p:nvPr/>
        </p:nvSpPr>
        <p:spPr>
          <a:xfrm>
            <a:off x="777240" y="1371600"/>
            <a:ext cx="106984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D017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project managed as a financial investment, not just a construction job </a:t>
            </a:r>
            <a:pPr indent="0" marL="0">
              <a:buNone/>
            </a:pPr>
            <a:r>
              <a:rPr lang="en-US" sz="1700" dirty="0">
                <a:solidFill>
                  <a:srgbClr val="231F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— the discipline investor-owned utilities apply to their own capital programs, where cost and schedule performance flows directly into their rate cases.</a:t>
            </a:r>
            <a:endParaRPr lang="en-US" sz="1700" dirty="0"/>
          </a:p>
        </p:txBody>
      </p:sp>
      <p:sp>
        <p:nvSpPr>
          <p:cNvPr id="7" name="Shape 4"/>
          <p:cNvSpPr/>
          <p:nvPr/>
        </p:nvSpPr>
        <p:spPr>
          <a:xfrm>
            <a:off x="457200" y="3063240"/>
            <a:ext cx="2670048" cy="2560320"/>
          </a:xfrm>
          <a:prstGeom prst="roundRect">
            <a:avLst>
              <a:gd name="adj" fmla="val 2857"/>
            </a:avLst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sp>
        <p:nvSpPr>
          <p:cNvPr id="8" name="Shape 5"/>
          <p:cNvSpPr/>
          <p:nvPr/>
        </p:nvSpPr>
        <p:spPr>
          <a:xfrm>
            <a:off x="685800" y="3310128"/>
            <a:ext cx="457200" cy="457200"/>
          </a:xfrm>
          <a:prstGeom prst="ellipse">
            <a:avLst/>
          </a:prstGeom>
          <a:solidFill>
            <a:srgbClr val="D0171F"/>
          </a:solidFill>
          <a:ln/>
        </p:spPr>
      </p:sp>
      <p:sp>
        <p:nvSpPr>
          <p:cNvPr id="9" name="Text 6"/>
          <p:cNvSpPr/>
          <p:nvPr/>
        </p:nvSpPr>
        <p:spPr>
          <a:xfrm>
            <a:off x="685800" y="331012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800" dirty="0"/>
          </a:p>
        </p:txBody>
      </p:sp>
      <p:sp>
        <p:nvSpPr>
          <p:cNvPr id="10" name="Text 7"/>
          <p:cNvSpPr/>
          <p:nvPr/>
        </p:nvSpPr>
        <p:spPr>
          <a:xfrm>
            <a:off x="685800" y="3931920"/>
            <a:ext cx="22402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231F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Baselined</a:t>
            </a:r>
            <a:endParaRPr lang="en-US" sz="1550" dirty="0"/>
          </a:p>
        </p:txBody>
      </p:sp>
      <p:sp>
        <p:nvSpPr>
          <p:cNvPr id="11" name="Text 8"/>
          <p:cNvSpPr/>
          <p:nvPr/>
        </p:nvSpPr>
        <p:spPr>
          <a:xfrm>
            <a:off x="685800" y="4526280"/>
            <a:ext cx="22402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project carries a baselined budget and P6 schedule from day one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3355848" y="3063240"/>
            <a:ext cx="2670048" cy="2560320"/>
          </a:xfrm>
          <a:prstGeom prst="roundRect">
            <a:avLst>
              <a:gd name="adj" fmla="val 2857"/>
            </a:avLst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sp>
        <p:nvSpPr>
          <p:cNvPr id="13" name="Shape 10"/>
          <p:cNvSpPr/>
          <p:nvPr/>
        </p:nvSpPr>
        <p:spPr>
          <a:xfrm>
            <a:off x="3584448" y="3310128"/>
            <a:ext cx="457200" cy="457200"/>
          </a:xfrm>
          <a:prstGeom prst="ellipse">
            <a:avLst/>
          </a:prstGeom>
          <a:solidFill>
            <a:srgbClr val="D0171F"/>
          </a:solidFill>
          <a:ln/>
        </p:spPr>
      </p:sp>
      <p:sp>
        <p:nvSpPr>
          <p:cNvPr id="14" name="Text 11"/>
          <p:cNvSpPr/>
          <p:nvPr/>
        </p:nvSpPr>
        <p:spPr>
          <a:xfrm>
            <a:off x="3584448" y="331012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800" dirty="0"/>
          </a:p>
        </p:txBody>
      </p:sp>
      <p:sp>
        <p:nvSpPr>
          <p:cNvPr id="15" name="Text 12"/>
          <p:cNvSpPr/>
          <p:nvPr/>
        </p:nvSpPr>
        <p:spPr>
          <a:xfrm>
            <a:off x="3584448" y="3931920"/>
            <a:ext cx="22402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231F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Committed-cost visibility</a:t>
            </a:r>
            <a:endParaRPr lang="en-US" sz="1550" dirty="0"/>
          </a:p>
        </p:txBody>
      </p:sp>
      <p:sp>
        <p:nvSpPr>
          <p:cNvPr id="16" name="Text 13"/>
          <p:cNvSpPr/>
          <p:nvPr/>
        </p:nvSpPr>
        <p:spPr>
          <a:xfrm>
            <a:off x="3584448" y="4526280"/>
            <a:ext cx="22402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Track dollars the moment a PO obligates them — not when invoices arrive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>
            <a:off x="6254496" y="3063240"/>
            <a:ext cx="2670048" cy="2560320"/>
          </a:xfrm>
          <a:prstGeom prst="roundRect">
            <a:avLst>
              <a:gd name="adj" fmla="val 2857"/>
            </a:avLst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sp>
        <p:nvSpPr>
          <p:cNvPr id="18" name="Shape 15"/>
          <p:cNvSpPr/>
          <p:nvPr/>
        </p:nvSpPr>
        <p:spPr>
          <a:xfrm>
            <a:off x="6483096" y="3310128"/>
            <a:ext cx="457200" cy="457200"/>
          </a:xfrm>
          <a:prstGeom prst="ellipse">
            <a:avLst/>
          </a:prstGeom>
          <a:solidFill>
            <a:srgbClr val="D0171F"/>
          </a:solidFill>
          <a:ln/>
        </p:spPr>
      </p:sp>
      <p:sp>
        <p:nvSpPr>
          <p:cNvPr id="19" name="Text 16"/>
          <p:cNvSpPr/>
          <p:nvPr/>
        </p:nvSpPr>
        <p:spPr>
          <a:xfrm>
            <a:off x="6483096" y="331012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800" dirty="0"/>
          </a:p>
        </p:txBody>
      </p:sp>
      <p:sp>
        <p:nvSpPr>
          <p:cNvPr id="20" name="Text 17"/>
          <p:cNvSpPr/>
          <p:nvPr/>
        </p:nvSpPr>
        <p:spPr>
          <a:xfrm>
            <a:off x="6483096" y="3931920"/>
            <a:ext cx="22402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231F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Forecast monthly</a:t>
            </a:r>
            <a:endParaRPr lang="en-US" sz="1550" dirty="0"/>
          </a:p>
        </p:txBody>
      </p:sp>
      <p:sp>
        <p:nvSpPr>
          <p:cNvPr id="21" name="Text 18"/>
          <p:cNvSpPr/>
          <p:nvPr/>
        </p:nvSpPr>
        <p:spPr>
          <a:xfrm>
            <a:off x="6483096" y="4526280"/>
            <a:ext cx="22402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Forecast-at-completion and GP projection as a standing report, not a fire drill</a:t>
            </a:r>
            <a:endParaRPr lang="en-US" sz="1200" dirty="0"/>
          </a:p>
        </p:txBody>
      </p:sp>
      <p:sp>
        <p:nvSpPr>
          <p:cNvPr id="22" name="Shape 19"/>
          <p:cNvSpPr/>
          <p:nvPr/>
        </p:nvSpPr>
        <p:spPr>
          <a:xfrm>
            <a:off x="9153144" y="3063240"/>
            <a:ext cx="2670048" cy="2560320"/>
          </a:xfrm>
          <a:prstGeom prst="roundRect">
            <a:avLst>
              <a:gd name="adj" fmla="val 2857"/>
            </a:avLst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sp>
        <p:nvSpPr>
          <p:cNvPr id="23" name="Shape 20"/>
          <p:cNvSpPr/>
          <p:nvPr/>
        </p:nvSpPr>
        <p:spPr>
          <a:xfrm>
            <a:off x="9381744" y="3310128"/>
            <a:ext cx="457200" cy="457200"/>
          </a:xfrm>
          <a:prstGeom prst="ellipse">
            <a:avLst/>
          </a:prstGeom>
          <a:solidFill>
            <a:srgbClr val="D0171F"/>
          </a:solidFill>
          <a:ln/>
        </p:spPr>
      </p:sp>
      <p:sp>
        <p:nvSpPr>
          <p:cNvPr id="24" name="Text 21"/>
          <p:cNvSpPr/>
          <p:nvPr/>
        </p:nvSpPr>
        <p:spPr>
          <a:xfrm>
            <a:off x="9381744" y="331012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800" dirty="0"/>
          </a:p>
        </p:txBody>
      </p:sp>
      <p:sp>
        <p:nvSpPr>
          <p:cNvPr id="25" name="Text 22"/>
          <p:cNvSpPr/>
          <p:nvPr/>
        </p:nvSpPr>
        <p:spPr>
          <a:xfrm>
            <a:off x="9381744" y="3931920"/>
            <a:ext cx="22402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231F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Gated decisions</a:t>
            </a:r>
            <a:endParaRPr lang="en-US" sz="1550" dirty="0"/>
          </a:p>
        </p:txBody>
      </p:sp>
      <p:sp>
        <p:nvSpPr>
          <p:cNvPr id="26" name="Text 23"/>
          <p:cNvSpPr/>
          <p:nvPr/>
        </p:nvSpPr>
        <p:spPr>
          <a:xfrm>
            <a:off x="9381744" y="4526280"/>
            <a:ext cx="22402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Leadership decides at defined gates — and stays out of the day-to-day critical path</a:t>
            </a:r>
            <a:endParaRPr lang="en-US" sz="1200" dirty="0"/>
          </a:p>
        </p:txBody>
      </p:sp>
      <p:sp>
        <p:nvSpPr>
          <p:cNvPr id="27" name="Text 24"/>
          <p:cNvSpPr/>
          <p:nvPr/>
        </p:nvSpPr>
        <p:spPr>
          <a:xfrm>
            <a:off x="457200" y="594360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39393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Managing GP the way an IOU’s capital program office manages rate-base spend.</a:t>
            </a:r>
            <a:endParaRPr lang="en-US" sz="1400" dirty="0"/>
          </a:p>
        </p:txBody>
      </p:sp>
      <p:sp>
        <p:nvSpPr>
          <p:cNvPr id="28" name="Text 25"/>
          <p:cNvSpPr/>
          <p:nvPr/>
        </p:nvSpPr>
        <p:spPr>
          <a:xfrm>
            <a:off x="457200" y="6473952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CVR-PROC-001 Rev 0  ·  July 23, 2026  ·  Utility Supply &amp; Construction Company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566928" cy="566928"/>
          </a:xfrm>
          <a:prstGeom prst="rect">
            <a:avLst/>
          </a:prstGeom>
          <a:solidFill>
            <a:srgbClr val="D0171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1188720" y="384048"/>
            <a:ext cx="9692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spc="100" kern="0" dirty="0">
                <a:solidFill>
                  <a:srgbClr val="231F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OPERATING MODEL</a:t>
            </a:r>
            <a:endParaRPr lang="en-US" sz="3000" dirty="0"/>
          </a:p>
        </p:txBody>
      </p:sp>
      <p:pic>
        <p:nvPicPr>
          <p:cNvPr id="4" name="Image 0" descr="/tmp/claude-0/-home-user-Codling-Todo/adc1606a-e2f8-54c8-9035-b3a48e0e63b2/scratchpad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61320" y="457200"/>
            <a:ext cx="1170432" cy="257658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457200" y="1280160"/>
            <a:ext cx="3630168" cy="3291840"/>
          </a:xfrm>
          <a:prstGeom prst="roundRect">
            <a:avLst>
              <a:gd name="adj" fmla="val 2222"/>
            </a:avLst>
          </a:prstGeom>
          <a:solidFill>
            <a:srgbClr val="F2F2F2"/>
          </a:solidFill>
          <a:ln/>
        </p:spPr>
      </p:sp>
      <p:sp>
        <p:nvSpPr>
          <p:cNvPr id="6" name="Text 3"/>
          <p:cNvSpPr/>
          <p:nvPr/>
        </p:nvSpPr>
        <p:spPr>
          <a:xfrm>
            <a:off x="713232" y="1481328"/>
            <a:ext cx="3108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spc="100" kern="0" dirty="0">
                <a:solidFill>
                  <a:srgbClr val="D017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ACCURATE ESTIMATES</a:t>
            </a:r>
            <a:endParaRPr lang="en-US" sz="1600" dirty="0"/>
          </a:p>
        </p:txBody>
      </p:sp>
      <p:sp>
        <p:nvSpPr>
          <p:cNvPr id="7" name="Text 4"/>
          <p:cNvSpPr/>
          <p:nvPr/>
        </p:nvSpPr>
        <p:spPr>
          <a:xfrm>
            <a:off x="713232" y="1920240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31F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CVR Estimating</a:t>
            </a:r>
            <a:endParaRPr lang="en-US" sz="1400" dirty="0"/>
          </a:p>
        </p:txBody>
      </p:sp>
      <p:sp>
        <p:nvSpPr>
          <p:cNvPr id="8" name="Text 5"/>
          <p:cNvSpPr/>
          <p:nvPr/>
        </p:nvSpPr>
        <p:spPr>
          <a:xfrm>
            <a:off x="713232" y="2359152"/>
            <a:ext cx="310896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Estimating moves into CVR under the SVP of Engineering. Estimates built from real design quantities, validated by HWC Construction/Operations PMs who know field conditions and production rates.</a:t>
            </a:r>
            <a:endParaRPr lang="en-US" sz="1250" dirty="0"/>
          </a:p>
        </p:txBody>
      </p:sp>
      <p:sp>
        <p:nvSpPr>
          <p:cNvPr id="9" name="Shape 6"/>
          <p:cNvSpPr/>
          <p:nvPr/>
        </p:nvSpPr>
        <p:spPr>
          <a:xfrm>
            <a:off x="4315968" y="1280160"/>
            <a:ext cx="3630168" cy="3291840"/>
          </a:xfrm>
          <a:prstGeom prst="roundRect">
            <a:avLst>
              <a:gd name="adj" fmla="val 2222"/>
            </a:avLst>
          </a:prstGeom>
          <a:solidFill>
            <a:srgbClr val="393939"/>
          </a:solidFill>
          <a:ln/>
        </p:spPr>
      </p:sp>
      <p:sp>
        <p:nvSpPr>
          <p:cNvPr id="10" name="Text 7"/>
          <p:cNvSpPr/>
          <p:nvPr/>
        </p:nvSpPr>
        <p:spPr>
          <a:xfrm>
            <a:off x="4572000" y="1481328"/>
            <a:ext cx="3108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spc="100" kern="0" dirty="0">
                <a:solidFill>
                  <a:srgbClr val="E31B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VERIFIED PROCUREMENT</a:t>
            </a:r>
            <a:endParaRPr lang="en-US" sz="1600" dirty="0"/>
          </a:p>
        </p:txBody>
      </p:sp>
      <p:sp>
        <p:nvSpPr>
          <p:cNvPr id="11" name="Text 8"/>
          <p:cNvSpPr/>
          <p:nvPr/>
        </p:nvSpPr>
        <p:spPr>
          <a:xfrm>
            <a:off x="4572000" y="1920240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Lead Engineer (EOR)</a:t>
            </a:r>
            <a:endParaRPr lang="en-US" sz="1400" dirty="0"/>
          </a:p>
        </p:txBody>
      </p:sp>
      <p:sp>
        <p:nvSpPr>
          <p:cNvPr id="12" name="Text 9"/>
          <p:cNvSpPr/>
          <p:nvPr/>
        </p:nvSpPr>
        <p:spPr>
          <a:xfrm>
            <a:off x="4572000" y="2359152"/>
            <a:ext cx="310896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DDDDD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Engineer of Record leads procurement through Power Line Supply — part numbers, quantities, and technical requirements verified by engineering before anything is ordered.</a:t>
            </a:r>
            <a:endParaRPr lang="en-US" sz="1250" dirty="0"/>
          </a:p>
        </p:txBody>
      </p:sp>
      <p:sp>
        <p:nvSpPr>
          <p:cNvPr id="13" name="Shape 10"/>
          <p:cNvSpPr/>
          <p:nvPr/>
        </p:nvSpPr>
        <p:spPr>
          <a:xfrm>
            <a:off x="8174736" y="1280160"/>
            <a:ext cx="3630168" cy="3291840"/>
          </a:xfrm>
          <a:prstGeom prst="roundRect">
            <a:avLst>
              <a:gd name="adj" fmla="val 2222"/>
            </a:avLst>
          </a:prstGeom>
          <a:solidFill>
            <a:srgbClr val="F2F2F2"/>
          </a:solidFill>
          <a:ln/>
        </p:spPr>
      </p:sp>
      <p:sp>
        <p:nvSpPr>
          <p:cNvPr id="14" name="Text 11"/>
          <p:cNvSpPr/>
          <p:nvPr/>
        </p:nvSpPr>
        <p:spPr>
          <a:xfrm>
            <a:off x="8430768" y="1481328"/>
            <a:ext cx="3108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spc="100" kern="0" dirty="0">
                <a:solidFill>
                  <a:srgbClr val="D017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CAPITAL DELIVERY PM</a:t>
            </a:r>
            <a:endParaRPr lang="en-US" sz="1600" dirty="0"/>
          </a:p>
        </p:txBody>
      </p:sp>
      <p:sp>
        <p:nvSpPr>
          <p:cNvPr id="15" name="Text 12"/>
          <p:cNvSpPr/>
          <p:nvPr/>
        </p:nvSpPr>
        <p:spPr>
          <a:xfrm>
            <a:off x="8430768" y="1920240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31F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Dedicated CVR PM (PMP/PE)</a:t>
            </a:r>
            <a:endParaRPr lang="en-US" sz="1400" dirty="0"/>
          </a:p>
        </p:txBody>
      </p:sp>
      <p:sp>
        <p:nvSpPr>
          <p:cNvPr id="16" name="Text 13"/>
          <p:cNvSpPr/>
          <p:nvPr/>
        </p:nvSpPr>
        <p:spPr>
          <a:xfrm>
            <a:off x="8430768" y="2359152"/>
            <a:ext cx="310896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credentialed PM, separate from the engineering lead — financial performance, on-time purchasing, and P6 resource-loaded schedules.</a:t>
            </a:r>
            <a:endParaRPr lang="en-US" sz="1250" dirty="0"/>
          </a:p>
        </p:txBody>
      </p:sp>
      <p:sp>
        <p:nvSpPr>
          <p:cNvPr id="17" name="Shape 14"/>
          <p:cNvSpPr/>
          <p:nvPr/>
        </p:nvSpPr>
        <p:spPr>
          <a:xfrm>
            <a:off x="457200" y="4892040"/>
            <a:ext cx="11247120" cy="1325880"/>
          </a:xfrm>
          <a:prstGeom prst="roundRect">
            <a:avLst>
              <a:gd name="adj" fmla="val 5517"/>
            </a:avLst>
          </a:prstGeom>
          <a:solidFill>
            <a:srgbClr val="FFFFFF"/>
          </a:solidFill>
          <a:ln w="25400">
            <a:solidFill>
              <a:srgbClr val="D0171F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777240" y="4983480"/>
            <a:ext cx="1069848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D017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critical relationship:  </a:t>
            </a:r>
            <a:pPr indent="0" marL="0">
              <a:buNone/>
            </a:pPr>
            <a:r>
              <a:rPr lang="en-US" sz="1450" dirty="0">
                <a:solidFill>
                  <a:srgbClr val="231F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CVR PM (capital delivery) and the HWC Construction/Ops PM (constructability and field operations) — </a:t>
            </a:r>
            <a:pPr indent="0" marL="0">
              <a:buNone/>
            </a:pPr>
            <a:r>
              <a:rPr lang="en-US" sz="1450" b="1" dirty="0">
                <a:solidFill>
                  <a:srgbClr val="231F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engaged from design kickoff, not mobilization</a:t>
            </a:r>
            <a:pPr indent="0" marL="0">
              <a:buNone/>
            </a:pPr>
            <a:r>
              <a:rPr lang="en-US" sz="1450" dirty="0">
                <a:solidFill>
                  <a:srgbClr val="231F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meet weekly, share one schedule and one cost picture, and jointly own the outcome.</a:t>
            </a:r>
            <a:endParaRPr lang="en-US" sz="1450" dirty="0"/>
          </a:p>
        </p:txBody>
      </p:sp>
      <p:sp>
        <p:nvSpPr>
          <p:cNvPr id="19" name="Text 16"/>
          <p:cNvSpPr/>
          <p:nvPr/>
        </p:nvSpPr>
        <p:spPr>
          <a:xfrm>
            <a:off x="457200" y="6473952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CVR-PROC-001 Rev 0  ·  July 23, 2026  ·  Utility Supply &amp; Construction Company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566928" cy="566928"/>
          </a:xfrm>
          <a:prstGeom prst="rect">
            <a:avLst/>
          </a:prstGeom>
          <a:solidFill>
            <a:srgbClr val="D0171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1188720" y="384048"/>
            <a:ext cx="9692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spc="100" kern="0" dirty="0">
                <a:solidFill>
                  <a:srgbClr val="231F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GOVERNANCE &amp; ORGANIZATION</a:t>
            </a:r>
            <a:endParaRPr lang="en-US" sz="3000" dirty="0"/>
          </a:p>
        </p:txBody>
      </p:sp>
      <p:pic>
        <p:nvPicPr>
          <p:cNvPr id="4" name="Image 0" descr="/tmp/claude-0/-home-user-Codling-Todo/adc1606a-e2f8-54c8-9035-b3a48e0e63b2/scratchpad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61320" y="457200"/>
            <a:ext cx="1170432" cy="257658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457200" y="1371600"/>
            <a:ext cx="5212080" cy="4754880"/>
          </a:xfrm>
          <a:prstGeom prst="roundRect">
            <a:avLst>
              <a:gd name="adj" fmla="val 1538"/>
            </a:avLst>
          </a:prstGeom>
          <a:solidFill>
            <a:srgbClr val="393939"/>
          </a:solidFill>
          <a:ln/>
        </p:spPr>
      </p:sp>
      <p:sp>
        <p:nvSpPr>
          <p:cNvPr id="6" name="Text 3"/>
          <p:cNvSpPr/>
          <p:nvPr/>
        </p:nvSpPr>
        <p:spPr>
          <a:xfrm>
            <a:off x="731520" y="1737360"/>
            <a:ext cx="46634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0" b="1" dirty="0">
                <a:solidFill>
                  <a:srgbClr val="E31B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$500k</a:t>
            </a:r>
            <a:endParaRPr lang="en-US" sz="7200" dirty="0"/>
          </a:p>
        </p:txBody>
      </p:sp>
      <p:sp>
        <p:nvSpPr>
          <p:cNvPr id="7" name="Text 4"/>
          <p:cNvSpPr/>
          <p:nvPr/>
        </p:nvSpPr>
        <p:spPr>
          <a:xfrm>
            <a:off x="731520" y="2926080"/>
            <a:ext cx="4663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and above — the process is mandatory</a:t>
            </a:r>
            <a:endParaRPr lang="en-US" sz="1800" dirty="0"/>
          </a:p>
        </p:txBody>
      </p:sp>
      <p:sp>
        <p:nvSpPr>
          <p:cNvPr id="8" name="Text 5"/>
          <p:cNvSpPr/>
          <p:nvPr/>
        </p:nvSpPr>
        <p:spPr>
          <a:xfrm>
            <a:off x="731520" y="3611880"/>
            <a:ext cx="466344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EEEE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Exceptions approved only by the SVP Engineering or the COO</a:t>
            </a:r>
            <a:endParaRPr lang="en-US" sz="14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EEEE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Gate decision documented at project award / kickoff</a:t>
            </a:r>
            <a:endParaRPr lang="en-US" sz="14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EEEE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Below threshold: lightweight path; teams may opt in</a:t>
            </a:r>
            <a:endParaRPr lang="en-US" sz="14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EEEE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Exceptions reviewed quarterly by SVP / COO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5989320" y="1371600"/>
            <a:ext cx="5742432" cy="1463040"/>
          </a:xfrm>
          <a:prstGeom prst="roundRect">
            <a:avLst>
              <a:gd name="adj" fmla="val 5000"/>
            </a:avLst>
          </a:prstGeom>
          <a:solidFill>
            <a:srgbClr val="F2F2F2"/>
          </a:solidFill>
          <a:ln/>
        </p:spPr>
      </p:sp>
      <p:sp>
        <p:nvSpPr>
          <p:cNvPr id="10" name="Text 7"/>
          <p:cNvSpPr/>
          <p:nvPr/>
        </p:nvSpPr>
        <p:spPr>
          <a:xfrm>
            <a:off x="6263640" y="1499616"/>
            <a:ext cx="5212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017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Estimating → CVR</a:t>
            </a:r>
            <a:endParaRPr lang="en-US" sz="1600" dirty="0"/>
          </a:p>
        </p:txBody>
      </p:sp>
      <p:sp>
        <p:nvSpPr>
          <p:cNvPr id="11" name="Text 8"/>
          <p:cNvSpPr/>
          <p:nvPr/>
        </p:nvSpPr>
        <p:spPr>
          <a:xfrm>
            <a:off x="6263640" y="1920240"/>
            <a:ext cx="5212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31F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Team transitions from HWC to CVR, reporting to the SVP of Engineering — estimates and engineering under one roof</a:t>
            </a:r>
            <a:endParaRPr lang="en-US" sz="1300" dirty="0"/>
          </a:p>
        </p:txBody>
      </p:sp>
      <p:sp>
        <p:nvSpPr>
          <p:cNvPr id="12" name="Shape 9"/>
          <p:cNvSpPr/>
          <p:nvPr/>
        </p:nvSpPr>
        <p:spPr>
          <a:xfrm>
            <a:off x="5989320" y="3017520"/>
            <a:ext cx="5742432" cy="1463040"/>
          </a:xfrm>
          <a:prstGeom prst="roundRect">
            <a:avLst>
              <a:gd name="adj" fmla="val 5000"/>
            </a:avLst>
          </a:prstGeom>
          <a:solidFill>
            <a:srgbClr val="F2F2F2"/>
          </a:solidFill>
          <a:ln/>
        </p:spPr>
      </p:sp>
      <p:sp>
        <p:nvSpPr>
          <p:cNvPr id="13" name="Text 10"/>
          <p:cNvSpPr/>
          <p:nvPr/>
        </p:nvSpPr>
        <p:spPr>
          <a:xfrm>
            <a:off x="6263640" y="3145536"/>
            <a:ext cx="5212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017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EOR named per project</a:t>
            </a:r>
            <a:endParaRPr lang="en-US" sz="1600" dirty="0"/>
          </a:p>
        </p:txBody>
      </p:sp>
      <p:sp>
        <p:nvSpPr>
          <p:cNvPr id="14" name="Text 11"/>
          <p:cNvSpPr/>
          <p:nvPr/>
        </p:nvSpPr>
        <p:spPr>
          <a:xfrm>
            <a:off x="6263640" y="3566160"/>
            <a:ext cx="5212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31F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Lead Engineer / Engineer of Record owns design integrity and all technical procurement content</a:t>
            </a:r>
            <a:endParaRPr lang="en-US" sz="1300" dirty="0"/>
          </a:p>
        </p:txBody>
      </p:sp>
      <p:sp>
        <p:nvSpPr>
          <p:cNvPr id="15" name="Shape 12"/>
          <p:cNvSpPr/>
          <p:nvPr/>
        </p:nvSpPr>
        <p:spPr>
          <a:xfrm>
            <a:off x="5989320" y="4663440"/>
            <a:ext cx="5742432" cy="1463040"/>
          </a:xfrm>
          <a:prstGeom prst="roundRect">
            <a:avLst>
              <a:gd name="adj" fmla="val 5000"/>
            </a:avLst>
          </a:prstGeom>
          <a:solidFill>
            <a:srgbClr val="F2F2F2"/>
          </a:solidFill>
          <a:ln/>
        </p:spPr>
      </p:sp>
      <p:sp>
        <p:nvSpPr>
          <p:cNvPr id="16" name="Text 13"/>
          <p:cNvSpPr/>
          <p:nvPr/>
        </p:nvSpPr>
        <p:spPr>
          <a:xfrm>
            <a:off x="6263640" y="4791456"/>
            <a:ext cx="5212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017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CVR PM ≠ EOR</a:t>
            </a:r>
            <a:endParaRPr lang="en-US" sz="1600" dirty="0"/>
          </a:p>
        </p:txBody>
      </p:sp>
      <p:sp>
        <p:nvSpPr>
          <p:cNvPr id="17" name="Text 14"/>
          <p:cNvSpPr/>
          <p:nvPr/>
        </p:nvSpPr>
        <p:spPr>
          <a:xfrm>
            <a:off x="6263640" y="5212080"/>
            <a:ext cx="5212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31F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dedicated PM is a PMP/PE and a different person than the engineering lead — checks and balances by design</a:t>
            </a:r>
            <a:endParaRPr lang="en-US" sz="1300" dirty="0"/>
          </a:p>
        </p:txBody>
      </p:sp>
      <p:sp>
        <p:nvSpPr>
          <p:cNvPr id="18" name="Text 15"/>
          <p:cNvSpPr/>
          <p:nvPr/>
        </p:nvSpPr>
        <p:spPr>
          <a:xfrm>
            <a:off x="457200" y="6473952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CVR-PROC-001 Rev 0  ·  July 23, 2026  ·  Utility Supply &amp; Construction Company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566928" cy="566928"/>
          </a:xfrm>
          <a:prstGeom prst="rect">
            <a:avLst/>
          </a:prstGeom>
          <a:solidFill>
            <a:srgbClr val="D0171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1188720" y="384048"/>
            <a:ext cx="9692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spc="100" kern="0" dirty="0">
                <a:solidFill>
                  <a:srgbClr val="231F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PROCESS, ONE BACKBONE</a:t>
            </a:r>
            <a:endParaRPr lang="en-US" sz="3000" dirty="0"/>
          </a:p>
        </p:txBody>
      </p:sp>
      <p:pic>
        <p:nvPicPr>
          <p:cNvPr id="4" name="Image 0" descr="/tmp/claude-0/-home-user-Codling-Todo/adc1606a-e2f8-54c8-9035-b3a48e0e63b2/scratchpad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61320" y="457200"/>
            <a:ext cx="1170432" cy="257658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429768" y="1920240"/>
            <a:ext cx="2157984" cy="2651760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19050">
            <a:solidFill>
              <a:srgbClr val="393939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429768" y="1920240"/>
            <a:ext cx="2157984" cy="566928"/>
          </a:xfrm>
          <a:prstGeom prst="rect">
            <a:avLst/>
          </a:prstGeom>
          <a:solidFill>
            <a:srgbClr val="D0171F"/>
          </a:solidFill>
          <a:ln/>
        </p:spPr>
      </p:sp>
      <p:sp>
        <p:nvSpPr>
          <p:cNvPr id="7" name="Text 4"/>
          <p:cNvSpPr/>
          <p:nvPr/>
        </p:nvSpPr>
        <p:spPr>
          <a:xfrm>
            <a:off x="429768" y="1920240"/>
            <a:ext cx="21579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spc="1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DESIGN</a:t>
            </a:r>
            <a:endParaRPr lang="en-US" sz="1500" dirty="0"/>
          </a:p>
        </p:txBody>
      </p:sp>
      <p:sp>
        <p:nvSpPr>
          <p:cNvPr id="8" name="Text 5"/>
          <p:cNvSpPr/>
          <p:nvPr/>
        </p:nvSpPr>
        <p:spPr>
          <a:xfrm>
            <a:off x="566928" y="2651760"/>
            <a:ext cx="188366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231F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CVR Engineering (EOR) + HWC Constr/Ops</a:t>
            </a:r>
            <a:endParaRPr lang="en-US" sz="1250" dirty="0"/>
          </a:p>
        </p:txBody>
      </p:sp>
      <p:sp>
        <p:nvSpPr>
          <p:cNvPr id="9" name="Text 6"/>
          <p:cNvSpPr/>
          <p:nvPr/>
        </p:nvSpPr>
        <p:spPr>
          <a:xfrm>
            <a:off x="566928" y="3337560"/>
            <a:ext cx="188366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Takeoffs and specs — constructability and field-ops input from day one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2624328" y="3127248"/>
            <a:ext cx="219456" cy="237744"/>
          </a:xfrm>
          <a:prstGeom prst="chevron">
            <a:avLst/>
          </a:prstGeom>
          <a:solidFill>
            <a:srgbClr val="D0171F"/>
          </a:solidFill>
          <a:ln/>
        </p:spPr>
      </p:sp>
      <p:sp>
        <p:nvSpPr>
          <p:cNvPr id="11" name="Shape 8"/>
          <p:cNvSpPr/>
          <p:nvPr/>
        </p:nvSpPr>
        <p:spPr>
          <a:xfrm>
            <a:off x="2807208" y="1920240"/>
            <a:ext cx="2157984" cy="2651760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19050">
            <a:solidFill>
              <a:srgbClr val="393939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2807208" y="1920240"/>
            <a:ext cx="2157984" cy="566928"/>
          </a:xfrm>
          <a:prstGeom prst="rect">
            <a:avLst/>
          </a:prstGeom>
          <a:solidFill>
            <a:srgbClr val="D0171F"/>
          </a:solidFill>
          <a:ln/>
        </p:spPr>
      </p:sp>
      <p:sp>
        <p:nvSpPr>
          <p:cNvPr id="13" name="Text 10"/>
          <p:cNvSpPr/>
          <p:nvPr/>
        </p:nvSpPr>
        <p:spPr>
          <a:xfrm>
            <a:off x="2807208" y="1920240"/>
            <a:ext cx="21579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spc="1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ESTIMATE</a:t>
            </a:r>
            <a:endParaRPr lang="en-US" sz="1500" dirty="0"/>
          </a:p>
        </p:txBody>
      </p:sp>
      <p:sp>
        <p:nvSpPr>
          <p:cNvPr id="14" name="Text 11"/>
          <p:cNvSpPr/>
          <p:nvPr/>
        </p:nvSpPr>
        <p:spPr>
          <a:xfrm>
            <a:off x="2944368" y="2651760"/>
            <a:ext cx="188366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231F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CVR Estimating + HWC PM</a:t>
            </a:r>
            <a:endParaRPr lang="en-US" sz="1250" dirty="0"/>
          </a:p>
        </p:txBody>
      </p:sp>
      <p:sp>
        <p:nvSpPr>
          <p:cNvPr id="15" name="Text 12"/>
          <p:cNvSpPr/>
          <p:nvPr/>
        </p:nvSpPr>
        <p:spPr>
          <a:xfrm>
            <a:off x="2944368" y="3337560"/>
            <a:ext cx="188366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Shared cost codes; constructability validated by the field</a:t>
            </a:r>
            <a:endParaRPr lang="en-US" sz="1100" dirty="0"/>
          </a:p>
        </p:txBody>
      </p:sp>
      <p:sp>
        <p:nvSpPr>
          <p:cNvPr id="16" name="Shape 13"/>
          <p:cNvSpPr/>
          <p:nvPr/>
        </p:nvSpPr>
        <p:spPr>
          <a:xfrm>
            <a:off x="5001768" y="3127248"/>
            <a:ext cx="219456" cy="237744"/>
          </a:xfrm>
          <a:prstGeom prst="chevron">
            <a:avLst/>
          </a:prstGeom>
          <a:solidFill>
            <a:srgbClr val="D0171F"/>
          </a:solidFill>
          <a:ln/>
        </p:spPr>
      </p:sp>
      <p:sp>
        <p:nvSpPr>
          <p:cNvPr id="17" name="Shape 14"/>
          <p:cNvSpPr/>
          <p:nvPr/>
        </p:nvSpPr>
        <p:spPr>
          <a:xfrm>
            <a:off x="5184648" y="1920240"/>
            <a:ext cx="2157984" cy="2651760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19050">
            <a:solidFill>
              <a:srgbClr val="393939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5184648" y="1920240"/>
            <a:ext cx="2157984" cy="566928"/>
          </a:xfrm>
          <a:prstGeom prst="rect">
            <a:avLst/>
          </a:prstGeom>
          <a:solidFill>
            <a:srgbClr val="D0171F"/>
          </a:solidFill>
          <a:ln/>
        </p:spPr>
      </p:sp>
      <p:sp>
        <p:nvSpPr>
          <p:cNvPr id="19" name="Text 16"/>
          <p:cNvSpPr/>
          <p:nvPr/>
        </p:nvSpPr>
        <p:spPr>
          <a:xfrm>
            <a:off x="5184648" y="1920240"/>
            <a:ext cx="21579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spc="1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PROCURE</a:t>
            </a:r>
            <a:endParaRPr lang="en-US" sz="1500" dirty="0"/>
          </a:p>
        </p:txBody>
      </p:sp>
      <p:sp>
        <p:nvSpPr>
          <p:cNvPr id="20" name="Text 17"/>
          <p:cNvSpPr/>
          <p:nvPr/>
        </p:nvSpPr>
        <p:spPr>
          <a:xfrm>
            <a:off x="5321808" y="2651760"/>
            <a:ext cx="188366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231F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EOR → Transmittal → PLS</a:t>
            </a:r>
            <a:endParaRPr lang="en-US" sz="1250" dirty="0"/>
          </a:p>
        </p:txBody>
      </p:sp>
      <p:sp>
        <p:nvSpPr>
          <p:cNvPr id="21" name="Text 18"/>
          <p:cNvSpPr/>
          <p:nvPr/>
        </p:nvSpPr>
        <p:spPr>
          <a:xfrm>
            <a:off x="5321808" y="3337560"/>
            <a:ext cx="188366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 timing driven by P6 schedule need dates</a:t>
            </a:r>
            <a:endParaRPr lang="en-US" sz="1100" dirty="0"/>
          </a:p>
        </p:txBody>
      </p:sp>
      <p:sp>
        <p:nvSpPr>
          <p:cNvPr id="22" name="Shape 19"/>
          <p:cNvSpPr/>
          <p:nvPr/>
        </p:nvSpPr>
        <p:spPr>
          <a:xfrm>
            <a:off x="7379208" y="3127248"/>
            <a:ext cx="219456" cy="237744"/>
          </a:xfrm>
          <a:prstGeom prst="chevron">
            <a:avLst/>
          </a:prstGeom>
          <a:solidFill>
            <a:srgbClr val="D0171F"/>
          </a:solidFill>
          <a:ln/>
        </p:spPr>
      </p:sp>
      <p:sp>
        <p:nvSpPr>
          <p:cNvPr id="23" name="Shape 20"/>
          <p:cNvSpPr/>
          <p:nvPr/>
        </p:nvSpPr>
        <p:spPr>
          <a:xfrm>
            <a:off x="7562088" y="1920240"/>
            <a:ext cx="2157984" cy="2651760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19050">
            <a:solidFill>
              <a:srgbClr val="393939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7562088" y="1920240"/>
            <a:ext cx="2157984" cy="566928"/>
          </a:xfrm>
          <a:prstGeom prst="rect">
            <a:avLst/>
          </a:prstGeom>
          <a:solidFill>
            <a:srgbClr val="D0171F"/>
          </a:solidFill>
          <a:ln/>
        </p:spPr>
      </p:sp>
      <p:sp>
        <p:nvSpPr>
          <p:cNvPr id="25" name="Text 22"/>
          <p:cNvSpPr/>
          <p:nvPr/>
        </p:nvSpPr>
        <p:spPr>
          <a:xfrm>
            <a:off x="7562088" y="1920240"/>
            <a:ext cx="21579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spc="1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EXECUTE</a:t>
            </a:r>
            <a:endParaRPr lang="en-US" sz="1500" dirty="0"/>
          </a:p>
        </p:txBody>
      </p:sp>
      <p:sp>
        <p:nvSpPr>
          <p:cNvPr id="26" name="Text 23"/>
          <p:cNvSpPr/>
          <p:nvPr/>
        </p:nvSpPr>
        <p:spPr>
          <a:xfrm>
            <a:off x="7699248" y="2651760"/>
            <a:ext cx="188366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231F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CVR PM ↔ HWC PM</a:t>
            </a:r>
            <a:endParaRPr lang="en-US" sz="1250" dirty="0"/>
          </a:p>
        </p:txBody>
      </p:sp>
      <p:sp>
        <p:nvSpPr>
          <p:cNvPr id="27" name="Text 24"/>
          <p:cNvSpPr/>
          <p:nvPr/>
        </p:nvSpPr>
        <p:spPr>
          <a:xfrm>
            <a:off x="7699248" y="3337560"/>
            <a:ext cx="188366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Resource-loaded P6 schedule; cost tracked vs. estimate</a:t>
            </a:r>
            <a:endParaRPr lang="en-US" sz="1100" dirty="0"/>
          </a:p>
        </p:txBody>
      </p:sp>
      <p:sp>
        <p:nvSpPr>
          <p:cNvPr id="28" name="Shape 25"/>
          <p:cNvSpPr/>
          <p:nvPr/>
        </p:nvSpPr>
        <p:spPr>
          <a:xfrm>
            <a:off x="9756648" y="3127248"/>
            <a:ext cx="219456" cy="237744"/>
          </a:xfrm>
          <a:prstGeom prst="chevron">
            <a:avLst/>
          </a:prstGeom>
          <a:solidFill>
            <a:srgbClr val="D0171F"/>
          </a:solidFill>
          <a:ln/>
        </p:spPr>
      </p:sp>
      <p:sp>
        <p:nvSpPr>
          <p:cNvPr id="29" name="Shape 26"/>
          <p:cNvSpPr/>
          <p:nvPr/>
        </p:nvSpPr>
        <p:spPr>
          <a:xfrm>
            <a:off x="9939528" y="1920240"/>
            <a:ext cx="2157984" cy="2651760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19050">
            <a:solidFill>
              <a:srgbClr val="393939"/>
            </a:solidFill>
            <a:prstDash val="solid"/>
          </a:ln>
        </p:spPr>
      </p:sp>
      <p:sp>
        <p:nvSpPr>
          <p:cNvPr id="30" name="Shape 27"/>
          <p:cNvSpPr/>
          <p:nvPr/>
        </p:nvSpPr>
        <p:spPr>
          <a:xfrm>
            <a:off x="9939528" y="1920240"/>
            <a:ext cx="2157984" cy="566928"/>
          </a:xfrm>
          <a:prstGeom prst="rect">
            <a:avLst/>
          </a:prstGeom>
          <a:solidFill>
            <a:srgbClr val="D0171F"/>
          </a:solidFill>
          <a:ln/>
        </p:spPr>
      </p:sp>
      <p:sp>
        <p:nvSpPr>
          <p:cNvPr id="31" name="Text 28"/>
          <p:cNvSpPr/>
          <p:nvPr/>
        </p:nvSpPr>
        <p:spPr>
          <a:xfrm>
            <a:off x="9939528" y="1920240"/>
            <a:ext cx="21579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spc="1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CLOSE OUT</a:t>
            </a:r>
            <a:endParaRPr lang="en-US" sz="1500" dirty="0"/>
          </a:p>
        </p:txBody>
      </p:sp>
      <p:sp>
        <p:nvSpPr>
          <p:cNvPr id="32" name="Text 29"/>
          <p:cNvSpPr/>
          <p:nvPr/>
        </p:nvSpPr>
        <p:spPr>
          <a:xfrm>
            <a:off x="10076688" y="2651760"/>
            <a:ext cx="188366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231F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All functions</a:t>
            </a:r>
            <a:endParaRPr lang="en-US" sz="1250" dirty="0"/>
          </a:p>
        </p:txBody>
      </p:sp>
      <p:sp>
        <p:nvSpPr>
          <p:cNvPr id="33" name="Text 30"/>
          <p:cNvSpPr/>
          <p:nvPr/>
        </p:nvSpPr>
        <p:spPr>
          <a:xfrm>
            <a:off x="10076688" y="3337560"/>
            <a:ext cx="188366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Actuals and lessons feed the estimating library</a:t>
            </a:r>
            <a:endParaRPr lang="en-US" sz="1100" dirty="0"/>
          </a:p>
        </p:txBody>
      </p:sp>
      <p:sp>
        <p:nvSpPr>
          <p:cNvPr id="34" name="Shape 31"/>
          <p:cNvSpPr/>
          <p:nvPr/>
        </p:nvSpPr>
        <p:spPr>
          <a:xfrm>
            <a:off x="457200" y="5029200"/>
            <a:ext cx="11247120" cy="1097280"/>
          </a:xfrm>
          <a:prstGeom prst="roundRect">
            <a:avLst>
              <a:gd name="adj" fmla="val 6667"/>
            </a:avLst>
          </a:prstGeom>
          <a:solidFill>
            <a:srgbClr val="F2F2F2"/>
          </a:solidFill>
          <a:ln/>
        </p:spPr>
      </p:sp>
      <p:sp>
        <p:nvSpPr>
          <p:cNvPr id="35" name="Text 32"/>
          <p:cNvSpPr/>
          <p:nvPr/>
        </p:nvSpPr>
        <p:spPr>
          <a:xfrm>
            <a:off x="777240" y="5120640"/>
            <a:ext cx="10698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017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External dependency handled by design:  </a:t>
            </a:r>
            <a:pPr indent="0" marL="0">
              <a:buNone/>
            </a:pPr>
            <a:r>
              <a:rPr lang="en-US" sz="1400" dirty="0">
                <a:solidFill>
                  <a:srgbClr val="231F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schedule-prerequisite projects (e.g., TRK-4911, design/built by Burns &amp; McDonnell) enter the P6 schedule as tracked external predecessor milestones.</a:t>
            </a:r>
            <a:endParaRPr lang="en-US" sz="1400" dirty="0"/>
          </a:p>
        </p:txBody>
      </p:sp>
      <p:sp>
        <p:nvSpPr>
          <p:cNvPr id="36" name="Text 33"/>
          <p:cNvSpPr/>
          <p:nvPr/>
        </p:nvSpPr>
        <p:spPr>
          <a:xfrm>
            <a:off x="457200" y="6473952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CVR-PROC-001 Rev 0  ·  July 23, 2026  ·  Utility Supply &amp; Construction Company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566928" cy="566928"/>
          </a:xfrm>
          <a:prstGeom prst="rect">
            <a:avLst/>
          </a:prstGeom>
          <a:solidFill>
            <a:srgbClr val="D0171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1188720" y="384048"/>
            <a:ext cx="9692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spc="100" kern="0" dirty="0">
                <a:solidFill>
                  <a:srgbClr val="231F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CVR-PLS TRANSMITTAL SYSTEM</a:t>
            </a:r>
            <a:endParaRPr lang="en-US" sz="3000" dirty="0"/>
          </a:p>
        </p:txBody>
      </p:sp>
      <p:pic>
        <p:nvPicPr>
          <p:cNvPr id="4" name="Image 0" descr="/tmp/claude-0/-home-user-Codling-Todo/adc1606a-e2f8-54c8-9035-b3a48e0e63b2/scratchpad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61320" y="457200"/>
            <a:ext cx="1170432" cy="257658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457200" y="1234440"/>
            <a:ext cx="11247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31F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only channel by which material requirements reach Power Line Supply — no verbal orders, no email-thread BOMs.</a:t>
            </a:r>
            <a:endParaRPr lang="en-US" sz="1600" dirty="0"/>
          </a:p>
        </p:txBody>
      </p:sp>
      <p:sp>
        <p:nvSpPr>
          <p:cNvPr id="6" name="Shape 3"/>
          <p:cNvSpPr/>
          <p:nvPr/>
        </p:nvSpPr>
        <p:spPr>
          <a:xfrm>
            <a:off x="457200" y="1965960"/>
            <a:ext cx="3630168" cy="1783080"/>
          </a:xfrm>
          <a:prstGeom prst="roundRect">
            <a:avLst>
              <a:gd name="adj" fmla="val 4103"/>
            </a:avLst>
          </a:prstGeom>
          <a:solidFill>
            <a:srgbClr val="F2F2F2"/>
          </a:solidFill>
          <a:ln/>
        </p:spPr>
      </p:sp>
      <p:sp>
        <p:nvSpPr>
          <p:cNvPr id="7" name="Text 4"/>
          <p:cNvSpPr/>
          <p:nvPr/>
        </p:nvSpPr>
        <p:spPr>
          <a:xfrm>
            <a:off x="685800" y="2103120"/>
            <a:ext cx="32004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D017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Numbered &amp; revision-controlled</a:t>
            </a:r>
            <a:endParaRPr lang="en-US" sz="1450" dirty="0"/>
          </a:p>
        </p:txBody>
      </p:sp>
      <p:sp>
        <p:nvSpPr>
          <p:cNvPr id="8" name="Text 5"/>
          <p:cNvSpPr/>
          <p:nvPr/>
        </p:nvSpPr>
        <p:spPr>
          <a:xfrm>
            <a:off x="685800" y="2697480"/>
            <a:ext cx="32004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31F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NB-PLS-004 Rev B — an auditable record of what was ordered, when, and on whose authority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4315968" y="1965960"/>
            <a:ext cx="3630168" cy="1783080"/>
          </a:xfrm>
          <a:prstGeom prst="roundRect">
            <a:avLst>
              <a:gd name="adj" fmla="val 4103"/>
            </a:avLst>
          </a:prstGeom>
          <a:solidFill>
            <a:srgbClr val="F2F2F2"/>
          </a:solidFill>
          <a:ln/>
        </p:spPr>
      </p:sp>
      <p:sp>
        <p:nvSpPr>
          <p:cNvPr id="10" name="Text 7"/>
          <p:cNvSpPr/>
          <p:nvPr/>
        </p:nvSpPr>
        <p:spPr>
          <a:xfrm>
            <a:off x="4544568" y="2103120"/>
            <a:ext cx="32004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D017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Dual signature</a:t>
            </a:r>
            <a:endParaRPr lang="en-US" sz="1450" dirty="0"/>
          </a:p>
        </p:txBody>
      </p:sp>
      <p:sp>
        <p:nvSpPr>
          <p:cNvPr id="11" name="Text 8"/>
          <p:cNvSpPr/>
          <p:nvPr/>
        </p:nvSpPr>
        <p:spPr>
          <a:xfrm>
            <a:off x="4544568" y="2697480"/>
            <a:ext cx="32004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31F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EOR signs for technical accuracy; CVR PM signs for budget and schedule alignment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8174736" y="1965960"/>
            <a:ext cx="3630168" cy="1783080"/>
          </a:xfrm>
          <a:prstGeom prst="roundRect">
            <a:avLst>
              <a:gd name="adj" fmla="val 4103"/>
            </a:avLst>
          </a:prstGeom>
          <a:solidFill>
            <a:srgbClr val="F2F2F2"/>
          </a:solidFill>
          <a:ln/>
        </p:spPr>
      </p:sp>
      <p:sp>
        <p:nvSpPr>
          <p:cNvPr id="13" name="Text 10"/>
          <p:cNvSpPr/>
          <p:nvPr/>
        </p:nvSpPr>
        <p:spPr>
          <a:xfrm>
            <a:off x="8403336" y="2103120"/>
            <a:ext cx="32004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D017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Schedule-driven need dates</a:t>
            </a:r>
            <a:endParaRPr lang="en-US" sz="1450" dirty="0"/>
          </a:p>
        </p:txBody>
      </p:sp>
      <p:sp>
        <p:nvSpPr>
          <p:cNvPr id="14" name="Text 11"/>
          <p:cNvSpPr/>
          <p:nvPr/>
        </p:nvSpPr>
        <p:spPr>
          <a:xfrm>
            <a:off x="8403336" y="2697480"/>
            <a:ext cx="32004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31F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Required-on-site dates pulled from P6; PO deadline = need date − lead time</a:t>
            </a:r>
            <a:endParaRPr lang="en-US" sz="1200" dirty="0"/>
          </a:p>
        </p:txBody>
      </p:sp>
      <p:sp>
        <p:nvSpPr>
          <p:cNvPr id="15" name="Shape 12"/>
          <p:cNvSpPr/>
          <p:nvPr/>
        </p:nvSpPr>
        <p:spPr>
          <a:xfrm>
            <a:off x="457200" y="3931920"/>
            <a:ext cx="3630168" cy="1783080"/>
          </a:xfrm>
          <a:prstGeom prst="roundRect">
            <a:avLst>
              <a:gd name="adj" fmla="val 4103"/>
            </a:avLst>
          </a:prstGeom>
          <a:solidFill>
            <a:srgbClr val="F2F2F2"/>
          </a:solidFill>
          <a:ln/>
        </p:spPr>
      </p:sp>
      <p:sp>
        <p:nvSpPr>
          <p:cNvPr id="16" name="Text 13"/>
          <p:cNvSpPr/>
          <p:nvPr/>
        </p:nvSpPr>
        <p:spPr>
          <a:xfrm>
            <a:off x="685800" y="4069080"/>
            <a:ext cx="32004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D017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PLS acknowledgment SLA</a:t>
            </a:r>
            <a:endParaRPr lang="en-US" sz="1450" dirty="0"/>
          </a:p>
        </p:txBody>
      </p:sp>
      <p:sp>
        <p:nvSpPr>
          <p:cNvPr id="17" name="Text 14"/>
          <p:cNvSpPr/>
          <p:nvPr/>
        </p:nvSpPr>
        <p:spPr>
          <a:xfrm>
            <a:off x="685800" y="4663440"/>
            <a:ext cx="32004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31F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Pricing, lead times, and promise dates confirmed within 5 business days</a:t>
            </a:r>
            <a:endParaRPr lang="en-US" sz="1200" dirty="0"/>
          </a:p>
        </p:txBody>
      </p:sp>
      <p:sp>
        <p:nvSpPr>
          <p:cNvPr id="18" name="Shape 15"/>
          <p:cNvSpPr/>
          <p:nvPr/>
        </p:nvSpPr>
        <p:spPr>
          <a:xfrm>
            <a:off x="4315968" y="3931920"/>
            <a:ext cx="3630168" cy="1783080"/>
          </a:xfrm>
          <a:prstGeom prst="roundRect">
            <a:avLst>
              <a:gd name="adj" fmla="val 4103"/>
            </a:avLst>
          </a:prstGeom>
          <a:solidFill>
            <a:srgbClr val="F2F2F2"/>
          </a:solidFill>
          <a:ln/>
        </p:spPr>
      </p:sp>
      <p:sp>
        <p:nvSpPr>
          <p:cNvPr id="19" name="Text 16"/>
          <p:cNvSpPr/>
          <p:nvPr/>
        </p:nvSpPr>
        <p:spPr>
          <a:xfrm>
            <a:off x="4544568" y="4069080"/>
            <a:ext cx="32004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D017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Change control</a:t>
            </a:r>
            <a:endParaRPr lang="en-US" sz="1450" dirty="0"/>
          </a:p>
        </p:txBody>
      </p:sp>
      <p:sp>
        <p:nvSpPr>
          <p:cNvPr id="20" name="Text 17"/>
          <p:cNvSpPr/>
          <p:nvPr/>
        </p:nvSpPr>
        <p:spPr>
          <a:xfrm>
            <a:off x="4544568" y="4663440"/>
            <a:ext cx="32004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31F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Any change to part number, quantity, spec, or date = new revision, same dual signature</a:t>
            </a:r>
            <a:endParaRPr lang="en-US" sz="1200" dirty="0"/>
          </a:p>
        </p:txBody>
      </p:sp>
      <p:sp>
        <p:nvSpPr>
          <p:cNvPr id="21" name="Shape 18"/>
          <p:cNvSpPr/>
          <p:nvPr/>
        </p:nvSpPr>
        <p:spPr>
          <a:xfrm>
            <a:off x="8174736" y="3931920"/>
            <a:ext cx="3630168" cy="1783080"/>
          </a:xfrm>
          <a:prstGeom prst="roundRect">
            <a:avLst>
              <a:gd name="adj" fmla="val 4103"/>
            </a:avLst>
          </a:prstGeom>
          <a:solidFill>
            <a:srgbClr val="F2F2F2"/>
          </a:solidFill>
          <a:ln/>
        </p:spPr>
      </p:sp>
      <p:sp>
        <p:nvSpPr>
          <p:cNvPr id="22" name="Text 19"/>
          <p:cNvSpPr/>
          <p:nvPr/>
        </p:nvSpPr>
        <p:spPr>
          <a:xfrm>
            <a:off x="8403336" y="4069080"/>
            <a:ext cx="32004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D017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Start simple</a:t>
            </a:r>
            <a:endParaRPr lang="en-US" sz="1450" dirty="0"/>
          </a:p>
        </p:txBody>
      </p:sp>
      <p:sp>
        <p:nvSpPr>
          <p:cNvPr id="23" name="Text 20"/>
          <p:cNvSpPr/>
          <p:nvPr/>
        </p:nvSpPr>
        <p:spPr>
          <a:xfrm>
            <a:off x="8403336" y="4663440"/>
            <a:ext cx="32004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31F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SharePoint form + status register now; graduate to a platform when volume justifies</a:t>
            </a:r>
            <a:endParaRPr lang="en-US" sz="1200" dirty="0"/>
          </a:p>
        </p:txBody>
      </p:sp>
      <p:sp>
        <p:nvSpPr>
          <p:cNvPr id="24" name="Text 21"/>
          <p:cNvSpPr/>
          <p:nvPr/>
        </p:nvSpPr>
        <p:spPr>
          <a:xfrm>
            <a:off x="457200" y="59893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i="1" dirty="0">
                <a:solidFill>
                  <a:srgbClr val="39393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Outcome: zero procurement rework from wrong part numbers or quantities.</a:t>
            </a:r>
            <a:endParaRPr lang="en-US" sz="1400" dirty="0"/>
          </a:p>
        </p:txBody>
      </p:sp>
      <p:sp>
        <p:nvSpPr>
          <p:cNvPr id="25" name="Text 22"/>
          <p:cNvSpPr/>
          <p:nvPr/>
        </p:nvSpPr>
        <p:spPr>
          <a:xfrm>
            <a:off x="457200" y="6473952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CVR-PROC-001 Rev 0  ·  July 23, 2026  ·  Utility Supply &amp; Construction Company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566928" cy="566928"/>
          </a:xfrm>
          <a:prstGeom prst="rect">
            <a:avLst/>
          </a:prstGeom>
          <a:solidFill>
            <a:srgbClr val="D0171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1188720" y="384048"/>
            <a:ext cx="9692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spc="100" kern="0" dirty="0">
                <a:solidFill>
                  <a:srgbClr val="231F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SYSTEMS ROADMAP: PROCESS FIRST, PLATFORM SECOND</a:t>
            </a:r>
            <a:endParaRPr lang="en-US" sz="3000" dirty="0"/>
          </a:p>
        </p:txBody>
      </p:sp>
      <p:pic>
        <p:nvPicPr>
          <p:cNvPr id="4" name="Image 0" descr="/tmp/claude-0/-home-user-Codling-Todo/adc1606a-e2f8-54c8-9035-b3a48e0e63b2/scratchpad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61320" y="457200"/>
            <a:ext cx="1170432" cy="257658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457200" y="1371600"/>
            <a:ext cx="3630168" cy="3383280"/>
          </a:xfrm>
          <a:prstGeom prst="roundRect">
            <a:avLst>
              <a:gd name="adj" fmla="val 2162"/>
            </a:avLst>
          </a:prstGeom>
          <a:solidFill>
            <a:srgbClr val="F2F2F2"/>
          </a:solidFill>
          <a:ln/>
        </p:spPr>
      </p:sp>
      <p:sp>
        <p:nvSpPr>
          <p:cNvPr id="6" name="Text 3"/>
          <p:cNvSpPr/>
          <p:nvPr/>
        </p:nvSpPr>
        <p:spPr>
          <a:xfrm>
            <a:off x="713232" y="1572768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spc="200" kern="0" dirty="0">
                <a:solidFill>
                  <a:srgbClr val="231F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CRAWL</a:t>
            </a:r>
            <a:endParaRPr lang="en-US" sz="2200" dirty="0"/>
          </a:p>
        </p:txBody>
      </p:sp>
      <p:sp>
        <p:nvSpPr>
          <p:cNvPr id="7" name="Text 4"/>
          <p:cNvSpPr/>
          <p:nvPr/>
        </p:nvSpPr>
        <p:spPr>
          <a:xfrm>
            <a:off x="713232" y="2066544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017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Now – 60 days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713232" y="2414016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31F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~$10–15k internal effort</a:t>
            </a:r>
            <a:endParaRPr lang="en-US" sz="1500" dirty="0"/>
          </a:p>
        </p:txBody>
      </p:sp>
      <p:sp>
        <p:nvSpPr>
          <p:cNvPr id="9" name="Text 6"/>
          <p:cNvSpPr/>
          <p:nvPr/>
        </p:nvSpPr>
        <p:spPr>
          <a:xfrm>
            <a:off x="713232" y="2871216"/>
            <a:ext cx="31089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SharePoint/Teams transmittal register, WO cost workbook, standard templates — on tools we already own. No new spend.</a:t>
            </a:r>
            <a:endParaRPr lang="en-US" sz="1250" dirty="0"/>
          </a:p>
        </p:txBody>
      </p:sp>
      <p:sp>
        <p:nvSpPr>
          <p:cNvPr id="10" name="Shape 7"/>
          <p:cNvSpPr/>
          <p:nvPr/>
        </p:nvSpPr>
        <p:spPr>
          <a:xfrm>
            <a:off x="4315968" y="1371600"/>
            <a:ext cx="3630168" cy="3383280"/>
          </a:xfrm>
          <a:prstGeom prst="roundRect">
            <a:avLst>
              <a:gd name="adj" fmla="val 2162"/>
            </a:avLst>
          </a:prstGeom>
          <a:solidFill>
            <a:srgbClr val="393939"/>
          </a:solidFill>
          <a:ln/>
        </p:spPr>
      </p:sp>
      <p:sp>
        <p:nvSpPr>
          <p:cNvPr id="11" name="Text 8"/>
          <p:cNvSpPr/>
          <p:nvPr/>
        </p:nvSpPr>
        <p:spPr>
          <a:xfrm>
            <a:off x="4572000" y="1572768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spc="2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WALK</a:t>
            </a:r>
            <a:endParaRPr lang="en-US" sz="2200" dirty="0"/>
          </a:p>
        </p:txBody>
      </p:sp>
      <p:sp>
        <p:nvSpPr>
          <p:cNvPr id="12" name="Text 9"/>
          <p:cNvSpPr/>
          <p:nvPr/>
        </p:nvSpPr>
        <p:spPr>
          <a:xfrm>
            <a:off x="4572000" y="2066544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31B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Q4 2026 – Q2 2027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4572000" y="2414016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$75–150k first year</a:t>
            </a:r>
            <a:endParaRPr lang="en-US" sz="1500" dirty="0"/>
          </a:p>
        </p:txBody>
      </p:sp>
      <p:sp>
        <p:nvSpPr>
          <p:cNvPr id="14" name="Text 11"/>
          <p:cNvSpPr/>
          <p:nvPr/>
        </p:nvSpPr>
        <p:spPr>
          <a:xfrm>
            <a:off x="4572000" y="2871216"/>
            <a:ext cx="31089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DDDDD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Platform pilot on New Baltimore: Oracle Primavera Unifier vs. InEight, head-to-head. Estimating tool selection folds in.</a:t>
            </a:r>
            <a:endParaRPr lang="en-US" sz="1250" dirty="0"/>
          </a:p>
        </p:txBody>
      </p:sp>
      <p:sp>
        <p:nvSpPr>
          <p:cNvPr id="15" name="Shape 12"/>
          <p:cNvSpPr/>
          <p:nvPr/>
        </p:nvSpPr>
        <p:spPr>
          <a:xfrm>
            <a:off x="8174736" y="1371600"/>
            <a:ext cx="3630168" cy="3383280"/>
          </a:xfrm>
          <a:prstGeom prst="roundRect">
            <a:avLst>
              <a:gd name="adj" fmla="val 2162"/>
            </a:avLst>
          </a:prstGeom>
          <a:solidFill>
            <a:srgbClr val="D0171F"/>
          </a:solidFill>
          <a:ln/>
        </p:spPr>
      </p:sp>
      <p:sp>
        <p:nvSpPr>
          <p:cNvPr id="16" name="Text 13"/>
          <p:cNvSpPr/>
          <p:nvPr/>
        </p:nvSpPr>
        <p:spPr>
          <a:xfrm>
            <a:off x="8430768" y="1572768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spc="2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RUN</a:t>
            </a:r>
            <a:endParaRPr lang="en-US" sz="2200" dirty="0"/>
          </a:p>
        </p:txBody>
      </p:sp>
      <p:sp>
        <p:nvSpPr>
          <p:cNvPr id="17" name="Text 14"/>
          <p:cNvSpPr/>
          <p:nvPr/>
        </p:nvSpPr>
        <p:spPr>
          <a:xfrm>
            <a:off x="8430768" y="2066544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2027 – 2028</a:t>
            </a:r>
            <a:endParaRPr lang="en-US" sz="1300" dirty="0"/>
          </a:p>
        </p:txBody>
      </p:sp>
      <p:sp>
        <p:nvSpPr>
          <p:cNvPr id="18" name="Text 15"/>
          <p:cNvSpPr/>
          <p:nvPr/>
        </p:nvSpPr>
        <p:spPr>
          <a:xfrm>
            <a:off x="8430768" y="2414016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$150–400k/yr run-rate</a:t>
            </a:r>
            <a:endParaRPr lang="en-US" sz="1500" dirty="0"/>
          </a:p>
        </p:txBody>
      </p:sp>
      <p:sp>
        <p:nvSpPr>
          <p:cNvPr id="19" name="Text 16"/>
          <p:cNvSpPr/>
          <p:nvPr/>
        </p:nvSpPr>
        <p:spPr>
          <a:xfrm>
            <a:off x="8430768" y="2871216"/>
            <a:ext cx="31089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DDDDD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Full rollout: platform + P6 + estimating tool + ERP feed. Estimate → PO → schedule → actuals on one backbone.</a:t>
            </a:r>
            <a:endParaRPr lang="en-US" sz="1250" dirty="0"/>
          </a:p>
        </p:txBody>
      </p:sp>
      <p:sp>
        <p:nvSpPr>
          <p:cNvPr id="20" name="Shape 17"/>
          <p:cNvSpPr/>
          <p:nvPr/>
        </p:nvSpPr>
        <p:spPr>
          <a:xfrm>
            <a:off x="457200" y="5029200"/>
            <a:ext cx="11247120" cy="109728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777240" y="5120640"/>
            <a:ext cx="10698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D017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software commitment is requested today.  </a:t>
            </a:r>
            <a:pPr indent="0" marL="0">
              <a:buNone/>
            </a:pPr>
            <a:r>
              <a:rPr lang="en-US" sz="1350" dirty="0">
                <a:solidFill>
                  <a:srgbClr val="231F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Budgetary quotes from Oracle and InEight are a Walk-phase deliverable; the platform decision comes to the quarterly Portfolio/Governance Review. ROM figures are planning-level.</a:t>
            </a:r>
            <a:endParaRPr lang="en-US" sz="1350" dirty="0"/>
          </a:p>
        </p:txBody>
      </p:sp>
      <p:sp>
        <p:nvSpPr>
          <p:cNvPr id="22" name="Text 19"/>
          <p:cNvSpPr/>
          <p:nvPr/>
        </p:nvSpPr>
        <p:spPr>
          <a:xfrm>
            <a:off x="457200" y="6473952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CVR-PROC-001 Rev 0  ·  July 23, 2026  ·  Utility Supply &amp; Construction Company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566928" cy="566928"/>
          </a:xfrm>
          <a:prstGeom prst="rect">
            <a:avLst/>
          </a:prstGeom>
          <a:solidFill>
            <a:srgbClr val="D0171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1188720" y="384048"/>
            <a:ext cx="9692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spc="100" kern="0" dirty="0">
                <a:solidFill>
                  <a:srgbClr val="231F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PLATFORM OPTIONS &amp; ROM COSTS</a:t>
            </a:r>
            <a:endParaRPr lang="en-US" sz="3000" dirty="0"/>
          </a:p>
        </p:txBody>
      </p:sp>
      <p:pic>
        <p:nvPicPr>
          <p:cNvPr id="4" name="Image 0" descr="/tmp/claude-0/-home-user-Codling-Todo/adc1606a-e2f8-54c8-9035-b3a48e0e63b2/scratchpad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61320" y="457200"/>
            <a:ext cx="1170432" cy="257658"/>
          </a:xfrm>
          <a:prstGeom prst="rect">
            <a:avLst/>
          </a:prstGeom>
        </p:spPr>
      </p:pic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371600"/>
          <a:ext cx="11247120" cy="914400"/>
        </p:xfrm>
        <a:graphic>
          <a:graphicData uri="http://schemas.openxmlformats.org/drawingml/2006/table">
            <a:tbl>
              <a:tblPr/>
              <a:tblGrid>
                <a:gridCol w="2286000"/>
                <a:gridCol w="3108960"/>
                <a:gridCol w="1188720"/>
                <a:gridCol w="2377440"/>
                <a:gridCol w="2286000"/>
              </a:tblGrid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Platform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9393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Role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9393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P6 link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9393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ROM cost (planning-level)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9393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Assessment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93939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31F2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Oracle Primavera Unifier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31F2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Capital program cost mgmt tied to P6 WBS; workflows incl. transmittals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31F2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Native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31F2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$75–250k/yr + $100–300k impl.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31F2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Strongest Capital Delivery match; heaviest lift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31F2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InEight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31F2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Contractor suite; estimate → cost codes → controls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31F2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Connector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31F2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$50–150k/yr + $50–150k impl.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31F2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Lighter-lift challenger — evaluate head-to-head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31F2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Oracle Aconex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31F2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Controlled transmittals &amp; document control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31F2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Oracle ecosystem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31F2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$30–100k/yr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31F2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Add-on if volume outgrows SharePoint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31F2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Procore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31F2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Field/construction PM; best field UX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31F2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3rd-party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31F2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$40–120k/yr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31F2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Complement at HWC field end — not the backbone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31F2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HCSS HeavyBid / InEight Estimate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31F2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Estimating (evaluation already underway)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31F2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Export to P6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31F2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$15–50k/yr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31F2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Choose together with the platform — one data model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 2"/>
          <p:cNvSpPr/>
          <p:nvPr/>
        </p:nvSpPr>
        <p:spPr>
          <a:xfrm>
            <a:off x="457200" y="580644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017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Recommendation: </a:t>
            </a:r>
            <a:pPr indent="0" marL="0">
              <a:buNone/>
            </a:pPr>
            <a:r>
              <a:rPr lang="en-US" sz="1400" dirty="0">
                <a:solidFill>
                  <a:srgbClr val="231F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two-vendor evaluation — Unifier vs. InEight — piloted against New Baltimore’s 39-work-order reconciliation, decision at the quarterly governance review.</a:t>
            </a:r>
            <a:endParaRPr lang="en-US" sz="1400" dirty="0"/>
          </a:p>
        </p:txBody>
      </p:sp>
      <p:sp>
        <p:nvSpPr>
          <p:cNvPr id="7" name="Text 3"/>
          <p:cNvSpPr/>
          <p:nvPr/>
        </p:nvSpPr>
        <p:spPr>
          <a:xfrm>
            <a:off x="457200" y="6473952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CVR-PROC-001 Rev 0  ·  July 23, 2026  ·  Utility Supply &amp; Construction Company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566928" cy="566928"/>
          </a:xfrm>
          <a:prstGeom prst="rect">
            <a:avLst/>
          </a:prstGeom>
          <a:solidFill>
            <a:srgbClr val="D0171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1188720" y="384048"/>
            <a:ext cx="9692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spc="100" kern="0" dirty="0">
                <a:solidFill>
                  <a:srgbClr val="231F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OPERATING RHYTHM &amp; ACCOUNTABILITY</a:t>
            </a:r>
            <a:endParaRPr lang="en-US" sz="3000" dirty="0"/>
          </a:p>
        </p:txBody>
      </p:sp>
      <p:pic>
        <p:nvPicPr>
          <p:cNvPr id="4" name="Image 0" descr="/tmp/claude-0/-home-user-Codling-Todo/adc1606a-e2f8-54c8-9035-b3a48e0e63b2/scratchpad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61320" y="457200"/>
            <a:ext cx="1170432" cy="257658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457200" y="1325880"/>
            <a:ext cx="1737360" cy="731520"/>
          </a:xfrm>
          <a:prstGeom prst="rect">
            <a:avLst/>
          </a:prstGeom>
          <a:solidFill>
            <a:srgbClr val="D0171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WEEKLY</a:t>
            </a:r>
            <a:endParaRPr lang="en-US" sz="1400" dirty="0"/>
          </a:p>
        </p:txBody>
      </p:sp>
      <p:sp>
        <p:nvSpPr>
          <p:cNvPr id="6" name="Text 3"/>
          <p:cNvSpPr/>
          <p:nvPr/>
        </p:nvSpPr>
        <p:spPr>
          <a:xfrm>
            <a:off x="2423160" y="1325880"/>
            <a:ext cx="9235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31F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CVR PM ↔ HWC Construction PM sync — never cancelled; the anchor of the process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457200" y="2194560"/>
            <a:ext cx="1737360" cy="731520"/>
          </a:xfrm>
          <a:prstGeom prst="rect">
            <a:avLst/>
          </a:prstGeom>
          <a:solidFill>
            <a:srgbClr val="393939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BIWEEKLY</a:t>
            </a:r>
            <a:endParaRPr lang="en-US" sz="1400" dirty="0"/>
          </a:p>
        </p:txBody>
      </p:sp>
      <p:sp>
        <p:nvSpPr>
          <p:cNvPr id="8" name="Text 5"/>
          <p:cNvSpPr/>
          <p:nvPr/>
        </p:nvSpPr>
        <p:spPr>
          <a:xfrm>
            <a:off x="2423160" y="2194560"/>
            <a:ext cx="9235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31F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Procurement &amp; expediting review — transmittal register, promise vs. need dates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457200" y="3063240"/>
            <a:ext cx="1737360" cy="731520"/>
          </a:xfrm>
          <a:prstGeom prst="rect">
            <a:avLst/>
          </a:prstGeom>
          <a:solidFill>
            <a:srgbClr val="393939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MONTHLY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2423160" y="3063240"/>
            <a:ext cx="9235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31F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Cost/GP review + P6 re-forecast — same week, so cost and schedule tell one story</a:t>
            </a:r>
            <a:endParaRPr lang="en-US" sz="1400" dirty="0"/>
          </a:p>
        </p:txBody>
      </p:sp>
      <p:sp>
        <p:nvSpPr>
          <p:cNvPr id="11" name="Text 8"/>
          <p:cNvSpPr/>
          <p:nvPr/>
        </p:nvSpPr>
        <p:spPr>
          <a:xfrm>
            <a:off x="457200" y="3931920"/>
            <a:ext cx="1737360" cy="731520"/>
          </a:xfrm>
          <a:prstGeom prst="rect">
            <a:avLst/>
          </a:prstGeom>
          <a:solidFill>
            <a:srgbClr val="393939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QUARTERLY</a:t>
            </a:r>
            <a:endParaRPr lang="en-US" sz="1400" dirty="0"/>
          </a:p>
        </p:txBody>
      </p:sp>
      <p:sp>
        <p:nvSpPr>
          <p:cNvPr id="12" name="Text 9"/>
          <p:cNvSpPr/>
          <p:nvPr/>
        </p:nvSpPr>
        <p:spPr>
          <a:xfrm>
            <a:off x="2423160" y="3931920"/>
            <a:ext cx="9235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31F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Portfolio &amp; governance review with SVP Engineering / COO — GP, exceptions, lessons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457200" y="4892040"/>
            <a:ext cx="11247120" cy="1325880"/>
          </a:xfrm>
          <a:prstGeom prst="roundRect">
            <a:avLst>
              <a:gd name="adj" fmla="val 5517"/>
            </a:avLst>
          </a:prstGeom>
          <a:solidFill>
            <a:srgbClr val="F2F2F2"/>
          </a:solidFill>
          <a:ln/>
        </p:spPr>
      </p:sp>
      <p:sp>
        <p:nvSpPr>
          <p:cNvPr id="14" name="Text 11"/>
          <p:cNvSpPr/>
          <p:nvPr/>
        </p:nvSpPr>
        <p:spPr>
          <a:xfrm>
            <a:off x="777240" y="5029200"/>
            <a:ext cx="106984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en-US" sz="1400" b="1" dirty="0">
                <a:solidFill>
                  <a:srgbClr val="231F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Accountability, made structural (full RACI in the process document):</a:t>
            </a:r>
            <a:endParaRPr lang="en-US" sz="14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CVR PM accountable for capital delivery  ·  EOR accountable for everything technical  ·  HWC PM accountable for the field  ·  SVP/COO accountable only at the gates — leadership out of the daily critical path</a:t>
            </a:r>
            <a:endParaRPr lang="en-US" sz="1400" dirty="0"/>
          </a:p>
        </p:txBody>
      </p:sp>
      <p:sp>
        <p:nvSpPr>
          <p:cNvPr id="15" name="Text 12"/>
          <p:cNvSpPr/>
          <p:nvPr/>
        </p:nvSpPr>
        <p:spPr>
          <a:xfrm>
            <a:off x="457200" y="6473952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CVR-PROC-001 Rev 0  ·  July 23, 2026  ·  Utility Supply &amp; Construction Company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39393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28016"/>
          </a:xfrm>
          <a:prstGeom prst="rect">
            <a:avLst/>
          </a:prstGeom>
          <a:solidFill>
            <a:srgbClr val="D0171F"/>
          </a:solidFill>
          <a:ln/>
        </p:spPr>
      </p:sp>
      <p:sp>
        <p:nvSpPr>
          <p:cNvPr id="3" name="Text 1"/>
          <p:cNvSpPr/>
          <p:nvPr/>
        </p:nvSpPr>
        <p:spPr>
          <a:xfrm>
            <a:off x="822960" y="685800"/>
            <a:ext cx="7315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spc="2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ASK</a:t>
            </a:r>
            <a:endParaRPr lang="en-US" sz="4000" dirty="0"/>
          </a:p>
        </p:txBody>
      </p:sp>
      <p:sp>
        <p:nvSpPr>
          <p:cNvPr id="4" name="Shape 2"/>
          <p:cNvSpPr/>
          <p:nvPr/>
        </p:nvSpPr>
        <p:spPr>
          <a:xfrm>
            <a:off x="822960" y="1673352"/>
            <a:ext cx="457200" cy="457200"/>
          </a:xfrm>
          <a:prstGeom prst="roundRect">
            <a:avLst>
              <a:gd name="adj" fmla="val 12000"/>
            </a:avLst>
          </a:prstGeom>
          <a:solidFill>
            <a:srgbClr val="D0171F"/>
          </a:solidFill>
          <a:ln/>
        </p:spPr>
      </p:sp>
      <p:sp>
        <p:nvSpPr>
          <p:cNvPr id="5" name="Text 3"/>
          <p:cNvSpPr/>
          <p:nvPr/>
        </p:nvSpPr>
        <p:spPr>
          <a:xfrm>
            <a:off x="822960" y="167335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1508760" y="1600200"/>
            <a:ext cx="73152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Approve the integrated process — mandatory ≥ $500k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822960" y="2386584"/>
            <a:ext cx="457200" cy="457200"/>
          </a:xfrm>
          <a:prstGeom prst="roundRect">
            <a:avLst>
              <a:gd name="adj" fmla="val 12000"/>
            </a:avLst>
          </a:prstGeom>
          <a:solidFill>
            <a:srgbClr val="D0171F"/>
          </a:solidFill>
          <a:ln/>
        </p:spPr>
      </p:sp>
      <p:sp>
        <p:nvSpPr>
          <p:cNvPr id="8" name="Text 6"/>
          <p:cNvSpPr/>
          <p:nvPr/>
        </p:nvSpPr>
        <p:spPr>
          <a:xfrm>
            <a:off x="822960" y="238658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1508760" y="2313432"/>
            <a:ext cx="73152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Approve the estimating move into CVR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822960" y="3099816"/>
            <a:ext cx="457200" cy="457200"/>
          </a:xfrm>
          <a:prstGeom prst="roundRect">
            <a:avLst>
              <a:gd name="adj" fmla="val 12000"/>
            </a:avLst>
          </a:prstGeom>
          <a:solidFill>
            <a:srgbClr val="D0171F"/>
          </a:solidFill>
          <a:ln/>
        </p:spPr>
      </p:sp>
      <p:sp>
        <p:nvSpPr>
          <p:cNvPr id="11" name="Text 9"/>
          <p:cNvSpPr/>
          <p:nvPr/>
        </p:nvSpPr>
        <p:spPr>
          <a:xfrm>
            <a:off x="822960" y="309981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1508760" y="3026664"/>
            <a:ext cx="73152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Approve the dedicated CVR PM team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822960" y="3813048"/>
            <a:ext cx="457200" cy="457200"/>
          </a:xfrm>
          <a:prstGeom prst="roundRect">
            <a:avLst>
              <a:gd name="adj" fmla="val 12000"/>
            </a:avLst>
          </a:prstGeom>
          <a:solidFill>
            <a:srgbClr val="D0171F"/>
          </a:solidFill>
          <a:ln/>
        </p:spPr>
      </p:sp>
      <p:sp>
        <p:nvSpPr>
          <p:cNvPr id="14" name="Text 12"/>
          <p:cNvSpPr/>
          <p:nvPr/>
        </p:nvSpPr>
        <p:spPr>
          <a:xfrm>
            <a:off x="822960" y="381304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1508760" y="3739896"/>
            <a:ext cx="73152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Endorse the CVR → PLS transmittal system</a:t>
            </a:r>
            <a:endParaRPr lang="en-US" sz="1800" dirty="0"/>
          </a:p>
        </p:txBody>
      </p:sp>
      <p:sp>
        <p:nvSpPr>
          <p:cNvPr id="16" name="Shape 14"/>
          <p:cNvSpPr/>
          <p:nvPr/>
        </p:nvSpPr>
        <p:spPr>
          <a:xfrm>
            <a:off x="822960" y="4526280"/>
            <a:ext cx="457200" cy="457200"/>
          </a:xfrm>
          <a:prstGeom prst="roundRect">
            <a:avLst>
              <a:gd name="adj" fmla="val 12000"/>
            </a:avLst>
          </a:prstGeom>
          <a:solidFill>
            <a:srgbClr val="D0171F"/>
          </a:solidFill>
          <a:ln/>
        </p:spPr>
      </p:sp>
      <p:sp>
        <p:nvSpPr>
          <p:cNvPr id="17" name="Text 15"/>
          <p:cNvSpPr/>
          <p:nvPr/>
        </p:nvSpPr>
        <p:spPr>
          <a:xfrm>
            <a:off x="822960" y="45262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2000" dirty="0"/>
          </a:p>
        </p:txBody>
      </p:sp>
      <p:sp>
        <p:nvSpPr>
          <p:cNvPr id="18" name="Text 16"/>
          <p:cNvSpPr/>
          <p:nvPr/>
        </p:nvSpPr>
        <p:spPr>
          <a:xfrm>
            <a:off x="1508760" y="4453128"/>
            <a:ext cx="73152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Green-light the New Baltimore pilot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822960" y="5394960"/>
            <a:ext cx="73152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DDDDD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return: GP forecasting as a standing report, on-time material, zero procurement rework, and project controls our IOU clients will recognize as their own.</a:t>
            </a:r>
            <a:endParaRPr lang="en-US" sz="1500" dirty="0"/>
          </a:p>
        </p:txBody>
      </p:sp>
      <p:pic>
        <p:nvPicPr>
          <p:cNvPr id="20" name="Image 0" descr="/tmp/claude-0/-home-user-Codling-Todo/adc1606a-e2f8-54c8-9035-b3a48e0e63b2/scratchpad/logo-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778240" y="1051560"/>
            <a:ext cx="2834640" cy="624015"/>
          </a:xfrm>
          <a:prstGeom prst="rect">
            <a:avLst/>
          </a:prstGeom>
        </p:spPr>
      </p:pic>
      <p:pic>
        <p:nvPicPr>
          <p:cNvPr id="21" name="Image 1" descr="/tmp/claude-0/-home-user-Codling-Todo/adc1606a-e2f8-54c8-9035-b3a48e0e63b2/scratchpad/q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64040" y="2377440"/>
            <a:ext cx="1417320" cy="1417320"/>
          </a:xfrm>
          <a:prstGeom prst="rect">
            <a:avLst/>
          </a:prstGeom>
        </p:spPr>
      </p:pic>
      <p:sp>
        <p:nvSpPr>
          <p:cNvPr id="22" name="Text 18"/>
          <p:cNvSpPr/>
          <p:nvPr/>
        </p:nvSpPr>
        <p:spPr>
          <a:xfrm>
            <a:off x="8778240" y="3886200"/>
            <a:ext cx="2788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BBBB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uscco.com</a:t>
            </a:r>
            <a:endParaRPr lang="en-US" sz="1200" dirty="0"/>
          </a:p>
        </p:txBody>
      </p:sp>
      <p:sp>
        <p:nvSpPr>
          <p:cNvPr id="23" name="Text 19"/>
          <p:cNvSpPr/>
          <p:nvPr/>
        </p:nvSpPr>
        <p:spPr>
          <a:xfrm>
            <a:off x="8229600" y="630936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spc="200" kern="0" dirty="0">
                <a:solidFill>
                  <a:srgbClr val="E31B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100% UTILITY  ·  100% OF THE TIME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2026-07-23T21:56:33Z</dcterms:created>
  <dcterms:modified xsi:type="dcterms:W3CDTF">2026-07-23T21:56:33Z</dcterms:modified>
</cp:coreProperties>
</file>